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10696575" cy="7589838"/>
  <p:notesSz cx="7010400" cy="9296400"/>
  <p:embeddedFontLst>
    <p:embeddedFont>
      <p:font typeface="Play" panose="020B060402020202020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67">
          <p15:clr>
            <a:srgbClr val="A4A3A4"/>
          </p15:clr>
        </p15:guide>
        <p15:guide id="2" pos="339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747C1A-DA42-45FF-80AD-F6DF622747E0}" v="6" dt="2025-07-22T19:04:44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538" y="354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68625" y="697225"/>
            <a:ext cx="46738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86FDEBE-C9E7-B6FD-8117-65EB8ECC6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253A2D49-6638-B9C1-DF29-A365EFC5A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2AD4373B-A8D8-87B1-C978-B7CDE9A32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49338" y="696913"/>
            <a:ext cx="49117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6801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9338" y="696913"/>
            <a:ext cx="49117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9338" y="696913"/>
            <a:ext cx="49117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9338" y="696913"/>
            <a:ext cx="49117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49338" y="696913"/>
            <a:ext cx="49117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40"/>
              <a:buFont typeface="Play"/>
              <a:buNone/>
              <a:defRPr sz="66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2656"/>
              <a:buNone/>
              <a:defRPr sz="2656"/>
            </a:lvl1pPr>
            <a:lvl2pPr lvl="1" algn="ctr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None/>
              <a:defRPr sz="2213"/>
            </a:lvl2pPr>
            <a:lvl3pPr lvl="2" algn="ctr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None/>
              <a:defRPr sz="1992"/>
            </a:lvl3pPr>
            <a:lvl4pPr lvl="3" algn="ctr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/>
            </a:lvl4pPr>
            <a:lvl5pPr lvl="4" algn="ctr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/>
            </a:lvl5pPr>
            <a:lvl6pPr lvl="5" algn="ctr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/>
            </a:lvl6pPr>
            <a:lvl7pPr lvl="6" algn="ctr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/>
            </a:lvl7pPr>
            <a:lvl8pPr lvl="7" algn="ctr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/>
            </a:lvl8pPr>
            <a:lvl9pPr lvl="8" algn="ctr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40"/>
              <a:buFont typeface="Play"/>
              <a:buNone/>
              <a:defRPr sz="66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rgbClr val="757575"/>
              </a:buClr>
              <a:buSzPts val="2656"/>
              <a:buNone/>
              <a:defRPr sz="2656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757575"/>
              </a:buClr>
              <a:buSzPts val="2213"/>
              <a:buNone/>
              <a:defRPr sz="2213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757575"/>
              </a:buClr>
              <a:buSzPts val="1992"/>
              <a:buNone/>
              <a:defRPr sz="1992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757575"/>
              </a:buClr>
              <a:buSzPts val="1771"/>
              <a:buNone/>
              <a:defRPr sz="177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757575"/>
              </a:buClr>
              <a:buSzPts val="1771"/>
              <a:buNone/>
              <a:defRPr sz="177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757575"/>
              </a:buClr>
              <a:buSzPts val="1771"/>
              <a:buNone/>
              <a:defRPr sz="177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757575"/>
              </a:buClr>
              <a:buSzPts val="1771"/>
              <a:buNone/>
              <a:defRPr sz="177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757575"/>
              </a:buClr>
              <a:buSzPts val="1771"/>
              <a:buNone/>
              <a:defRPr sz="177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rgbClr val="757575"/>
              </a:buClr>
              <a:buSzPts val="1771"/>
              <a:buNone/>
              <a:defRPr sz="177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735390" y="2020443"/>
            <a:ext cx="4546044" cy="481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5415141" y="2020443"/>
            <a:ext cx="4546044" cy="481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2656"/>
              <a:buNone/>
              <a:defRPr sz="2656" b="1"/>
            </a:lvl1pPr>
            <a:lvl2pPr marL="914400" lvl="1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None/>
              <a:defRPr sz="2213" b="1"/>
            </a:lvl2pPr>
            <a:lvl3pPr marL="1371600" lvl="2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None/>
              <a:defRPr sz="1992" b="1"/>
            </a:lvl3pPr>
            <a:lvl4pPr marL="1828800" lvl="3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4pPr>
            <a:lvl5pPr marL="2286000" lvl="4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5pPr>
            <a:lvl6pPr marL="2743200" lvl="5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6pPr>
            <a:lvl7pPr marL="3200400" lvl="6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7pPr>
            <a:lvl8pPr marL="3657600" lvl="7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8pPr>
            <a:lvl9pPr marL="4114800" lvl="8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736784" y="2772399"/>
            <a:ext cx="4525152" cy="407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5415141" y="1860565"/>
            <a:ext cx="4547438" cy="911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2656"/>
              <a:buNone/>
              <a:defRPr sz="2656" b="1"/>
            </a:lvl1pPr>
            <a:lvl2pPr marL="914400" lvl="1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None/>
              <a:defRPr sz="2213" b="1"/>
            </a:lvl2pPr>
            <a:lvl3pPr marL="1371600" lvl="2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None/>
              <a:defRPr sz="1992" b="1"/>
            </a:lvl3pPr>
            <a:lvl4pPr marL="1828800" lvl="3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4pPr>
            <a:lvl5pPr marL="2286000" lvl="4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5pPr>
            <a:lvl6pPr marL="2743200" lvl="5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6pPr>
            <a:lvl7pPr marL="3200400" lvl="6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7pPr>
            <a:lvl8pPr marL="3657600" lvl="7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8pPr>
            <a:lvl9pPr marL="4114800" lvl="8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5415141" y="2772399"/>
            <a:ext cx="4547438" cy="407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41"/>
              <a:buFont typeface="Play"/>
              <a:buNone/>
              <a:defRPr sz="354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4547438" y="1092798"/>
            <a:ext cx="5415141" cy="539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53453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3541"/>
              <a:buChar char="•"/>
              <a:defRPr sz="3541"/>
            </a:lvl1pPr>
            <a:lvl2pPr marL="914400" lvl="1" indent="-425386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3099"/>
              <a:buChar char="•"/>
              <a:defRPr sz="3099"/>
            </a:lvl2pPr>
            <a:lvl3pPr marL="1371600" lvl="2" indent="-397256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656"/>
              <a:buChar char="•"/>
              <a:defRPr sz="2656"/>
            </a:lvl3pPr>
            <a:lvl4pPr marL="1828800" lvl="3" indent="-369125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Char char="•"/>
              <a:defRPr sz="2213"/>
            </a:lvl4pPr>
            <a:lvl5pPr marL="2286000" lvl="4" indent="-369125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Char char="•"/>
              <a:defRPr sz="2213"/>
            </a:lvl5pPr>
            <a:lvl6pPr marL="2743200" lvl="5" indent="-369125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Char char="•"/>
              <a:defRPr sz="2213"/>
            </a:lvl6pPr>
            <a:lvl7pPr marL="3200400" lvl="6" indent="-369125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Char char="•"/>
              <a:defRPr sz="2213"/>
            </a:lvl7pPr>
            <a:lvl8pPr marL="3657600" lvl="7" indent="-369125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Char char="•"/>
              <a:defRPr sz="2213"/>
            </a:lvl8pPr>
            <a:lvl9pPr marL="4114800" lvl="8" indent="-369125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Char char="•"/>
              <a:defRPr sz="2213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736783" y="2276951"/>
            <a:ext cx="3449924" cy="4218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/>
            </a:lvl1pPr>
            <a:lvl2pPr marL="914400" lvl="1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549"/>
              <a:buNone/>
              <a:defRPr sz="1549"/>
            </a:lvl2pPr>
            <a:lvl3pPr marL="1371600" lvl="2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328"/>
              <a:buNone/>
              <a:defRPr sz="1328"/>
            </a:lvl3pPr>
            <a:lvl4pPr marL="1828800" lvl="3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4pPr>
            <a:lvl5pPr marL="2286000" lvl="4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5pPr>
            <a:lvl6pPr marL="2743200" lvl="5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6pPr>
            <a:lvl7pPr marL="3200400" lvl="6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7pPr>
            <a:lvl8pPr marL="3657600" lvl="7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8pPr>
            <a:lvl9pPr marL="4114800" lvl="8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41"/>
              <a:buFont typeface="Play"/>
              <a:buNone/>
              <a:defRPr sz="354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4547438" y="1092798"/>
            <a:ext cx="5415141" cy="539370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736783" y="2276951"/>
            <a:ext cx="3449924" cy="4218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771"/>
              <a:buNone/>
              <a:defRPr sz="1770"/>
            </a:lvl1pPr>
            <a:lvl2pPr marL="914400" lvl="1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549"/>
              <a:buNone/>
              <a:defRPr sz="1549"/>
            </a:lvl2pPr>
            <a:lvl3pPr marL="1371600" lvl="2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328"/>
              <a:buNone/>
              <a:defRPr sz="1328"/>
            </a:lvl3pPr>
            <a:lvl4pPr marL="1828800" lvl="3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4pPr>
            <a:lvl5pPr marL="2286000" lvl="4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5pPr>
            <a:lvl6pPr marL="2743200" lvl="5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6pPr>
            <a:lvl7pPr marL="3200400" lvl="6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7pPr>
            <a:lvl8pPr marL="3657600" lvl="7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8pPr>
            <a:lvl9pPr marL="4114800" lvl="8" indent="-2286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107"/>
              <a:buNone/>
              <a:defRPr sz="1107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940447" y="-184614"/>
            <a:ext cx="4815682" cy="922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5591943" y="2466883"/>
            <a:ext cx="6432037" cy="230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912191" y="227288"/>
            <a:ext cx="6432037" cy="678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69"/>
              <a:buFont typeface="Play"/>
              <a:buNone/>
              <a:defRPr sz="4869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5386" algn="l" rtl="0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3099"/>
              <a:buFont typeface="Arial"/>
              <a:buChar char="•"/>
              <a:defRPr sz="30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7256" algn="l" rtl="0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656"/>
              <a:buFont typeface="Arial"/>
              <a:buChar char="•"/>
              <a:defRPr sz="26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9125" algn="l" rtl="0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2213"/>
              <a:buFont typeface="Arial"/>
              <a:buChar char="•"/>
              <a:defRPr sz="221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092" algn="l" rtl="0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Font typeface="Arial"/>
              <a:buChar char="•"/>
              <a:defRPr sz="1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092" algn="l" rtl="0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Font typeface="Arial"/>
              <a:buChar char="•"/>
              <a:defRPr sz="1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092" algn="l" rtl="0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Font typeface="Arial"/>
              <a:buChar char="•"/>
              <a:defRPr sz="1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092" algn="l" rtl="0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Font typeface="Arial"/>
              <a:buChar char="•"/>
              <a:defRPr sz="1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091" algn="l" rtl="0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Font typeface="Arial"/>
              <a:buChar char="•"/>
              <a:defRPr sz="1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091" algn="l" rtl="0">
              <a:lnSpc>
                <a:spcPct val="90000"/>
              </a:lnSpc>
              <a:spcBef>
                <a:spcPts val="553"/>
              </a:spcBef>
              <a:spcAft>
                <a:spcPts val="0"/>
              </a:spcAft>
              <a:buClr>
                <a:schemeClr val="dk1"/>
              </a:buClr>
              <a:buSzPts val="1992"/>
              <a:buFont typeface="Arial"/>
              <a:buChar char="•"/>
              <a:defRPr sz="1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D34A478-EA5E-1F9A-2ADD-373082FD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03A7A3ED-C531-53AC-C334-8FFDE05D3B88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01" name="Google Shape;101;p14">
              <a:extLst>
                <a:ext uri="{FF2B5EF4-FFF2-40B4-BE49-F238E27FC236}">
                  <a16:creationId xmlns:a16="http://schemas.microsoft.com/office/drawing/2014/main" id="{CC67E64E-D593-2948-CB08-59479869D169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0">
                  <a:srgbClr val="DBDEE0"/>
                </a:gs>
                <a:gs pos="8000">
                  <a:srgbClr val="DBDEE0"/>
                </a:gs>
                <a:gs pos="35000">
                  <a:srgbClr val="7D888F"/>
                </a:gs>
                <a:gs pos="69500">
                  <a:srgbClr val="455666"/>
                </a:gs>
                <a:gs pos="96000">
                  <a:srgbClr val="0C233D"/>
                </a:gs>
                <a:gs pos="100000">
                  <a:srgbClr val="0C233D"/>
                </a:gs>
              </a:gsLst>
              <a:lin ang="10800000" scaled="0"/>
            </a:gradFill>
            <a:ln>
              <a:noFill/>
            </a:ln>
            <a:effectLst>
              <a:outerShdw blurRad="38100" dist="50800" dir="5400000" algn="ctr" rotWithShape="0">
                <a:srgbClr val="7F7F7F"/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 i="0" u="none" strike="noStrike" cap="none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>
              <a:extLst>
                <a:ext uri="{FF2B5EF4-FFF2-40B4-BE49-F238E27FC236}">
                  <a16:creationId xmlns:a16="http://schemas.microsoft.com/office/drawing/2014/main" id="{431782B0-5CAC-F10C-1BD0-524F12B15AF3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Strategic Crime Reduction Analysis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 PO R. Carucci</a:t>
              </a:r>
              <a:endParaRPr/>
            </a:p>
          </p:txBody>
        </p:sp>
      </p:grpSp>
      <p:pic>
        <p:nvPicPr>
          <p:cNvPr id="103" name="Google Shape;103;p14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6B1C6EDB-1B40-C096-0259-8678A08405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04" name="Google Shape;104;p14">
            <a:extLst>
              <a:ext uri="{FF2B5EF4-FFF2-40B4-BE49-F238E27FC236}">
                <a16:creationId xmlns:a16="http://schemas.microsoft.com/office/drawing/2014/main" id="{CB23A56F-F084-E642-6A82-2B0887E620F8}"/>
              </a:ext>
            </a:extLst>
          </p:cNvPr>
          <p:cNvCxnSpPr/>
          <p:nvPr/>
        </p:nvCxnSpPr>
        <p:spPr>
          <a:xfrm rot="10800000">
            <a:off x="2923845" y="888730"/>
            <a:ext cx="40934" cy="259566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" name="Google Shape;105;p14">
            <a:extLst>
              <a:ext uri="{FF2B5EF4-FFF2-40B4-BE49-F238E27FC236}">
                <a16:creationId xmlns:a16="http://schemas.microsoft.com/office/drawing/2014/main" id="{1BABC243-FA35-01C2-CECD-42B29735EE60}"/>
              </a:ext>
            </a:extLst>
          </p:cNvPr>
          <p:cNvCxnSpPr/>
          <p:nvPr/>
        </p:nvCxnSpPr>
        <p:spPr>
          <a:xfrm rot="10800000">
            <a:off x="326571" y="3491641"/>
            <a:ext cx="10000343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EEE270DC-777D-CDE6-44B0-9614D7FC0CE3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Offenders/Suspects</a:t>
            </a:r>
            <a:endParaRPr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E94A9BE1-34B9-CC28-EC02-7A5C3D78F570}"/>
              </a:ext>
            </a:extLst>
          </p:cNvPr>
          <p:cNvSpPr txBox="1"/>
          <p:nvPr/>
        </p:nvSpPr>
        <p:spPr>
          <a:xfrm>
            <a:off x="217714" y="974096"/>
            <a:ext cx="260825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 Vehicle Theft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4">
            <a:extLst>
              <a:ext uri="{FF2B5EF4-FFF2-40B4-BE49-F238E27FC236}">
                <a16:creationId xmlns:a16="http://schemas.microsoft.com/office/drawing/2014/main" id="{74C9A894-A3CF-C64D-EBF2-3EFBCAAA69F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45902" y="3949892"/>
            <a:ext cx="5530534" cy="349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B42714-BFA8-E247-7E74-A6211EB930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67960" y="4027534"/>
            <a:ext cx="4610145" cy="35622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E5C926-54E1-9932-1154-B75091EF211A}"/>
              </a:ext>
            </a:extLst>
          </p:cNvPr>
          <p:cNvSpPr txBox="1"/>
          <p:nvPr/>
        </p:nvSpPr>
        <p:spPr>
          <a:xfrm>
            <a:off x="3291840" y="1609344"/>
            <a:ext cx="6588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ptos" panose="020B0004020202020204" pitchFamily="34" charset="0"/>
              </a:rPr>
              <a:t>See attached for further details.</a:t>
            </a:r>
          </a:p>
        </p:txBody>
      </p:sp>
    </p:spTree>
    <p:extLst>
      <p:ext uri="{BB962C8B-B14F-4D97-AF65-F5344CB8AC3E}">
        <p14:creationId xmlns:p14="http://schemas.microsoft.com/office/powerpoint/2010/main" val="2609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/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0">
                  <a:srgbClr val="DBDEE0"/>
                </a:gs>
                <a:gs pos="8000">
                  <a:srgbClr val="DBDEE0"/>
                </a:gs>
                <a:gs pos="35000">
                  <a:srgbClr val="7D888F"/>
                </a:gs>
                <a:gs pos="69500">
                  <a:srgbClr val="455666"/>
                </a:gs>
                <a:gs pos="96000">
                  <a:srgbClr val="0C233D"/>
                </a:gs>
                <a:gs pos="100000">
                  <a:srgbClr val="0C233D"/>
                </a:gs>
              </a:gsLst>
              <a:lin ang="10800000" scaled="0"/>
            </a:gradFill>
            <a:ln>
              <a:noFill/>
            </a:ln>
            <a:effectLst>
              <a:outerShdw blurRad="38100" dist="50800" dir="5400000" algn="ctr" rotWithShape="0">
                <a:srgbClr val="7F7F7F"/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 i="0" u="none" strike="noStrike" cap="none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Strategic Crime Reduction Analysis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 PO R. Carucci</a:t>
              </a:r>
              <a:endParaRPr/>
            </a:p>
          </p:txBody>
        </p:sp>
      </p:grpSp>
      <p:pic>
        <p:nvPicPr>
          <p:cNvPr id="103" name="Google Shape;103;p14" descr="A blue and yellow police badg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04" name="Google Shape;104;p14"/>
          <p:cNvCxnSpPr/>
          <p:nvPr/>
        </p:nvCxnSpPr>
        <p:spPr>
          <a:xfrm rot="10800000">
            <a:off x="2923845" y="888730"/>
            <a:ext cx="40934" cy="259566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" name="Google Shape;105;p14"/>
          <p:cNvCxnSpPr/>
          <p:nvPr/>
        </p:nvCxnSpPr>
        <p:spPr>
          <a:xfrm rot="10800000">
            <a:off x="326571" y="3491641"/>
            <a:ext cx="10000343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14"/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Offenders/Suspects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17714" y="974096"/>
            <a:ext cx="260825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 Vehicle Burglary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4"/>
          <a:srcRect/>
          <a:stretch/>
        </p:blipFill>
        <p:spPr>
          <a:xfrm>
            <a:off x="351787" y="3991267"/>
            <a:ext cx="4996499" cy="3412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55B44E-25FC-D06F-DB97-938C4418EF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85347" y="3952856"/>
            <a:ext cx="4518594" cy="3491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799C16-A86C-9D94-9B48-8E30DB67BF12}"/>
              </a:ext>
            </a:extLst>
          </p:cNvPr>
          <p:cNvSpPr txBox="1"/>
          <p:nvPr/>
        </p:nvSpPr>
        <p:spPr>
          <a:xfrm>
            <a:off x="3291840" y="1609344"/>
            <a:ext cx="6588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ptos" panose="020B0004020202020204" pitchFamily="34" charset="0"/>
              </a:rPr>
              <a:t>See attached for further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5"/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17" name="Google Shape;117;p15"/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0">
                  <a:srgbClr val="DBDEE0"/>
                </a:gs>
                <a:gs pos="8000">
                  <a:srgbClr val="DBDEE0"/>
                </a:gs>
                <a:gs pos="35000">
                  <a:srgbClr val="7D888F"/>
                </a:gs>
                <a:gs pos="69500">
                  <a:srgbClr val="455666"/>
                </a:gs>
                <a:gs pos="96000">
                  <a:srgbClr val="0C233D"/>
                </a:gs>
                <a:gs pos="100000">
                  <a:srgbClr val="0C233D"/>
                </a:gs>
              </a:gsLst>
              <a:lin ang="10800000" scaled="0"/>
            </a:gradFill>
            <a:ln>
              <a:noFill/>
            </a:ln>
            <a:effectLst>
              <a:outerShdw blurRad="38100" dist="50800" dir="5400000" algn="ctr" rotWithShape="0">
                <a:srgbClr val="7F7F7F"/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 i="0" u="none" strike="noStrike" cap="none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Strategic Crime Reduction Analysis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 PO R. Carucci</a:t>
              </a:r>
              <a:endParaRPr/>
            </a:p>
          </p:txBody>
        </p:sp>
      </p:grpSp>
      <p:pic>
        <p:nvPicPr>
          <p:cNvPr id="119" name="Google Shape;119;p15" descr="A blue and yellow police badg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20" name="Google Shape;120;p15"/>
          <p:cNvCxnSpPr/>
          <p:nvPr/>
        </p:nvCxnSpPr>
        <p:spPr>
          <a:xfrm rot="10800000">
            <a:off x="2408811" y="1088635"/>
            <a:ext cx="17015" cy="2404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1" name="Google Shape;121;p15"/>
          <p:cNvCxnSpPr/>
          <p:nvPr/>
        </p:nvCxnSpPr>
        <p:spPr>
          <a:xfrm rot="10800000">
            <a:off x="326571" y="3491641"/>
            <a:ext cx="10000343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" name="Google Shape;122;p15"/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Offenders/Suspects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17714" y="974096"/>
            <a:ext cx="2608258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Residential &amp; Commercial Burglaries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5"/>
          <p:cNvPicPr preferRelativeResize="0"/>
          <p:nvPr/>
        </p:nvPicPr>
        <p:blipFill>
          <a:blip r:embed="rId4"/>
          <a:srcRect/>
          <a:stretch/>
        </p:blipFill>
        <p:spPr>
          <a:xfrm>
            <a:off x="348356" y="3843955"/>
            <a:ext cx="5111299" cy="34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C347AE-1908-5440-74EF-2799F78CC3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0194" y="3845848"/>
            <a:ext cx="4656974" cy="3598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782740-E8B0-E42E-FCBB-5A7A33195F59}"/>
              </a:ext>
            </a:extLst>
          </p:cNvPr>
          <p:cNvSpPr txBox="1"/>
          <p:nvPr/>
        </p:nvSpPr>
        <p:spPr>
          <a:xfrm>
            <a:off x="2825972" y="1689470"/>
            <a:ext cx="6588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ptos" panose="020B0004020202020204" pitchFamily="34" charset="0"/>
              </a:rPr>
              <a:t>See attached for further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34" name="Google Shape;134;p16"/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0">
                  <a:srgbClr val="DBDEE0"/>
                </a:gs>
                <a:gs pos="8000">
                  <a:srgbClr val="DBDEE0"/>
                </a:gs>
                <a:gs pos="35000">
                  <a:srgbClr val="7D888F"/>
                </a:gs>
                <a:gs pos="69500">
                  <a:srgbClr val="455666"/>
                </a:gs>
                <a:gs pos="96000">
                  <a:srgbClr val="0C233D"/>
                </a:gs>
                <a:gs pos="100000">
                  <a:srgbClr val="0C233D"/>
                </a:gs>
              </a:gsLst>
              <a:lin ang="10800000" scaled="0"/>
            </a:gradFill>
            <a:ln>
              <a:noFill/>
            </a:ln>
            <a:effectLst>
              <a:outerShdw blurRad="38100" dist="50800" dir="5400000" algn="ctr" rotWithShape="0">
                <a:srgbClr val="7F7F7F"/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 i="0" u="none" strike="noStrike" cap="none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Strategic Crime Reduction Analysis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 PO R. Carucci</a:t>
              </a:r>
              <a:endParaRPr/>
            </a:p>
          </p:txBody>
        </p:sp>
      </p:grpSp>
      <p:pic>
        <p:nvPicPr>
          <p:cNvPr id="136" name="Google Shape;136;p16" descr="A blue and yellow police badg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37" name="Google Shape;137;p16"/>
          <p:cNvCxnSpPr/>
          <p:nvPr/>
        </p:nvCxnSpPr>
        <p:spPr>
          <a:xfrm rot="10800000">
            <a:off x="2999822" y="1088635"/>
            <a:ext cx="17015" cy="2404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" name="Google Shape;138;p16"/>
          <p:cNvCxnSpPr/>
          <p:nvPr/>
        </p:nvCxnSpPr>
        <p:spPr>
          <a:xfrm rot="10800000">
            <a:off x="326571" y="3491641"/>
            <a:ext cx="10000343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p16"/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Offenders/Suspects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Robbery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6"/>
          <p:cNvPicPr preferRelativeResize="0"/>
          <p:nvPr/>
        </p:nvPicPr>
        <p:blipFill>
          <a:blip r:embed="rId4"/>
          <a:srcRect/>
          <a:stretch/>
        </p:blipFill>
        <p:spPr>
          <a:xfrm>
            <a:off x="101198" y="3996847"/>
            <a:ext cx="4994180" cy="3011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A71CD8-C6E4-74C7-D877-D6904F4CFD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264" y="1530453"/>
            <a:ext cx="5049809" cy="12172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9C9920-D7F3-A4B0-A062-E9034FE567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70582" y="5010915"/>
            <a:ext cx="5088777" cy="12256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7"/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50" name="Google Shape;150;p17"/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0">
                  <a:srgbClr val="DBDEE0"/>
                </a:gs>
                <a:gs pos="8000">
                  <a:srgbClr val="DBDEE0"/>
                </a:gs>
                <a:gs pos="35000">
                  <a:srgbClr val="7D888F"/>
                </a:gs>
                <a:gs pos="69500">
                  <a:srgbClr val="455666"/>
                </a:gs>
                <a:gs pos="96000">
                  <a:srgbClr val="0C233D"/>
                </a:gs>
                <a:gs pos="100000">
                  <a:srgbClr val="0C233D"/>
                </a:gs>
              </a:gsLst>
              <a:lin ang="10800000" scaled="0"/>
            </a:gradFill>
            <a:ln>
              <a:noFill/>
            </a:ln>
            <a:effectLst>
              <a:outerShdw blurRad="38100" dist="50800" dir="5400000" algn="ctr" rotWithShape="0">
                <a:srgbClr val="7F7F7F"/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 i="0" u="none" strike="noStrike" cap="none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Strategic Crime Reduction Analysis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 PO R. Carucci</a:t>
              </a:r>
              <a:endParaRPr/>
            </a:p>
          </p:txBody>
        </p:sp>
      </p:grpSp>
      <p:pic>
        <p:nvPicPr>
          <p:cNvPr id="152" name="Google Shape;152;p17" descr="A blue and yellow police badg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53" name="Google Shape;153;p17"/>
          <p:cNvCxnSpPr/>
          <p:nvPr/>
        </p:nvCxnSpPr>
        <p:spPr>
          <a:xfrm rot="10800000">
            <a:off x="2999822" y="1088635"/>
            <a:ext cx="17015" cy="2404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4" name="Google Shape;154;p17"/>
          <p:cNvCxnSpPr/>
          <p:nvPr/>
        </p:nvCxnSpPr>
        <p:spPr>
          <a:xfrm rot="10800000">
            <a:off x="326571" y="3491641"/>
            <a:ext cx="10000343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5" name="Google Shape;155;p17"/>
          <p:cNvSpPr txBox="1"/>
          <p:nvPr/>
        </p:nvSpPr>
        <p:spPr>
          <a:xfrm>
            <a:off x="2911170" y="964212"/>
            <a:ext cx="745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Offenders/Suspects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Sexual Offenses</a:t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4"/>
          <a:srcRect/>
          <a:stretch/>
        </p:blipFill>
        <p:spPr>
          <a:xfrm>
            <a:off x="217714" y="3918179"/>
            <a:ext cx="4912958" cy="343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870800-EB71-A17B-BE4E-C86A6A82DB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03397" y="5179582"/>
            <a:ext cx="4755962" cy="11454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0AE407-F191-67DD-E171-75F53A9F0C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25115" y="1526024"/>
            <a:ext cx="6801799" cy="16381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101</Words>
  <Application>Microsoft Office PowerPoint</Application>
  <PresentationFormat>Custom</PresentationFormat>
  <Paragraphs>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Play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 Carucci</cp:lastModifiedBy>
  <cp:revision>3</cp:revision>
  <dcterms:modified xsi:type="dcterms:W3CDTF">2025-08-01T20:36:17Z</dcterms:modified>
</cp:coreProperties>
</file>