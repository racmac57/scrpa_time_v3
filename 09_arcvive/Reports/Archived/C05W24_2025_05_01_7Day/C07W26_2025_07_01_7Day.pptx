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86" r:id="rId2"/>
    <p:sldId id="291" r:id="rId3"/>
    <p:sldId id="292" r:id="rId4"/>
    <p:sldId id="293" r:id="rId5"/>
    <p:sldId id="294" r:id="rId6"/>
  </p:sldIdLst>
  <p:sldSz cx="10696575" cy="7589838"/>
  <p:notesSz cx="7010400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67" userDrawn="1">
          <p15:clr>
            <a:srgbClr val="A4A3A4"/>
          </p15:clr>
        </p15:guide>
        <p15:guide id="2" pos="339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6B82020-BD2F-8054-82C3-A14D9833D7A1}" name="Robert Carucci" initials="RC" userId="S::rcarucci@hackensackpd.org::5be546eb-4763-4194-b93d-35346ec02cb5" providerId="AD"/>
  <p188:author id="{614EE433-4CD8-D6C9-71EC-C019CC5DD367}" name="Ray Guidetti" initials="" userId="S::rguidetti@hackensack.org::9cdb527b-782c-4e10-85bc-d9af381ffb4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6A0F9"/>
    <a:srgbClr val="E0404C"/>
    <a:srgbClr val="05EDFE"/>
    <a:srgbClr val="36105B"/>
    <a:srgbClr val="D100D0"/>
    <a:srgbClr val="020D56"/>
    <a:srgbClr val="00EBFF"/>
    <a:srgbClr val="023F93"/>
    <a:srgbClr val="9ADBFE"/>
    <a:srgbClr val="513E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E7C8A4-030D-41D6-AACA-221316386960}" v="10" dt="2025-07-01T18:35:14.08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86" d="100"/>
          <a:sy n="86" d="100"/>
        </p:scale>
        <p:origin x="1398" y="336"/>
      </p:cViewPr>
      <p:guideLst>
        <p:guide orient="horz" pos="2367"/>
        <p:guide pos="339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8/10/relationships/authors" Target="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2243" y="1242134"/>
            <a:ext cx="9092089" cy="2642388"/>
          </a:xfrm>
        </p:spPr>
        <p:txBody>
          <a:bodyPr anchor="b"/>
          <a:lstStyle>
            <a:lvl1pPr algn="ctr">
              <a:defRPr sz="66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7072" y="3986423"/>
            <a:ext cx="8022431" cy="1832453"/>
          </a:xfrm>
        </p:spPr>
        <p:txBody>
          <a:bodyPr/>
          <a:lstStyle>
            <a:lvl1pPr marL="0" indent="0" algn="ctr">
              <a:buNone/>
              <a:defRPr sz="2656"/>
            </a:lvl1pPr>
            <a:lvl2pPr marL="505983" indent="0" algn="ctr">
              <a:buNone/>
              <a:defRPr sz="2213"/>
            </a:lvl2pPr>
            <a:lvl3pPr marL="1011966" indent="0" algn="ctr">
              <a:buNone/>
              <a:defRPr sz="1992"/>
            </a:lvl3pPr>
            <a:lvl4pPr marL="1517950" indent="0" algn="ctr">
              <a:buNone/>
              <a:defRPr sz="1771"/>
            </a:lvl4pPr>
            <a:lvl5pPr marL="2023933" indent="0" algn="ctr">
              <a:buNone/>
              <a:defRPr sz="1771"/>
            </a:lvl5pPr>
            <a:lvl6pPr marL="2529916" indent="0" algn="ctr">
              <a:buNone/>
              <a:defRPr sz="1771"/>
            </a:lvl6pPr>
            <a:lvl7pPr marL="3035899" indent="0" algn="ctr">
              <a:buNone/>
              <a:defRPr sz="1771"/>
            </a:lvl7pPr>
            <a:lvl8pPr marL="3541883" indent="0" algn="ctr">
              <a:buNone/>
              <a:defRPr sz="1771"/>
            </a:lvl8pPr>
            <a:lvl9pPr marL="4047866" indent="0" algn="ctr">
              <a:buNone/>
              <a:defRPr sz="1771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2A3C1-395D-48C2-A2EA-C25AE9301880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354C0-EBD0-4001-BDE7-C5A528EB3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654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2A3C1-395D-48C2-A2EA-C25AE9301880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354C0-EBD0-4001-BDE7-C5A528EB3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8209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9819" y="1892191"/>
            <a:ext cx="9225796" cy="3157161"/>
          </a:xfrm>
        </p:spPr>
        <p:txBody>
          <a:bodyPr anchor="b"/>
          <a:lstStyle>
            <a:lvl1pPr>
              <a:defRPr sz="66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819" y="5079220"/>
            <a:ext cx="9225796" cy="1660277"/>
          </a:xfrm>
        </p:spPr>
        <p:txBody>
          <a:bodyPr/>
          <a:lstStyle>
            <a:lvl1pPr marL="0" indent="0">
              <a:buNone/>
              <a:defRPr sz="2656">
                <a:solidFill>
                  <a:schemeClr val="tx1">
                    <a:tint val="82000"/>
                  </a:schemeClr>
                </a:solidFill>
              </a:defRPr>
            </a:lvl1pPr>
            <a:lvl2pPr marL="505983" indent="0">
              <a:buNone/>
              <a:defRPr sz="2213">
                <a:solidFill>
                  <a:schemeClr val="tx1">
                    <a:tint val="82000"/>
                  </a:schemeClr>
                </a:solidFill>
              </a:defRPr>
            </a:lvl2pPr>
            <a:lvl3pPr marL="1011966" indent="0">
              <a:buNone/>
              <a:defRPr sz="1992">
                <a:solidFill>
                  <a:schemeClr val="tx1">
                    <a:tint val="82000"/>
                  </a:schemeClr>
                </a:solidFill>
              </a:defRPr>
            </a:lvl3pPr>
            <a:lvl4pPr marL="1517950" indent="0">
              <a:buNone/>
              <a:defRPr sz="1771">
                <a:solidFill>
                  <a:schemeClr val="tx1">
                    <a:tint val="82000"/>
                  </a:schemeClr>
                </a:solidFill>
              </a:defRPr>
            </a:lvl4pPr>
            <a:lvl5pPr marL="2023933" indent="0">
              <a:buNone/>
              <a:defRPr sz="1771">
                <a:solidFill>
                  <a:schemeClr val="tx1">
                    <a:tint val="82000"/>
                  </a:schemeClr>
                </a:solidFill>
              </a:defRPr>
            </a:lvl5pPr>
            <a:lvl6pPr marL="2529916" indent="0">
              <a:buNone/>
              <a:defRPr sz="1771">
                <a:solidFill>
                  <a:schemeClr val="tx1">
                    <a:tint val="82000"/>
                  </a:schemeClr>
                </a:solidFill>
              </a:defRPr>
            </a:lvl6pPr>
            <a:lvl7pPr marL="3035899" indent="0">
              <a:buNone/>
              <a:defRPr sz="1771">
                <a:solidFill>
                  <a:schemeClr val="tx1">
                    <a:tint val="82000"/>
                  </a:schemeClr>
                </a:solidFill>
              </a:defRPr>
            </a:lvl7pPr>
            <a:lvl8pPr marL="3541883" indent="0">
              <a:buNone/>
              <a:defRPr sz="1771">
                <a:solidFill>
                  <a:schemeClr val="tx1">
                    <a:tint val="82000"/>
                  </a:schemeClr>
                </a:solidFill>
              </a:defRPr>
            </a:lvl8pPr>
            <a:lvl9pPr marL="4047866" indent="0">
              <a:buNone/>
              <a:defRPr sz="1771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2A3C1-395D-48C2-A2EA-C25AE9301880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354C0-EBD0-4001-BDE7-C5A528EB3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058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5390" y="2020443"/>
            <a:ext cx="4546044" cy="48156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15141" y="2020443"/>
            <a:ext cx="4546044" cy="48156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2A3C1-395D-48C2-A2EA-C25AE9301880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354C0-EBD0-4001-BDE7-C5A528EB3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646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783" y="404090"/>
            <a:ext cx="9225796" cy="14670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784" y="1860565"/>
            <a:ext cx="4525152" cy="911834"/>
          </a:xfrm>
        </p:spPr>
        <p:txBody>
          <a:bodyPr anchor="b"/>
          <a:lstStyle>
            <a:lvl1pPr marL="0" indent="0">
              <a:buNone/>
              <a:defRPr sz="2656" b="1"/>
            </a:lvl1pPr>
            <a:lvl2pPr marL="505983" indent="0">
              <a:buNone/>
              <a:defRPr sz="2213" b="1"/>
            </a:lvl2pPr>
            <a:lvl3pPr marL="1011966" indent="0">
              <a:buNone/>
              <a:defRPr sz="1992" b="1"/>
            </a:lvl3pPr>
            <a:lvl4pPr marL="1517950" indent="0">
              <a:buNone/>
              <a:defRPr sz="1771" b="1"/>
            </a:lvl4pPr>
            <a:lvl5pPr marL="2023933" indent="0">
              <a:buNone/>
              <a:defRPr sz="1771" b="1"/>
            </a:lvl5pPr>
            <a:lvl6pPr marL="2529916" indent="0">
              <a:buNone/>
              <a:defRPr sz="1771" b="1"/>
            </a:lvl6pPr>
            <a:lvl7pPr marL="3035899" indent="0">
              <a:buNone/>
              <a:defRPr sz="1771" b="1"/>
            </a:lvl7pPr>
            <a:lvl8pPr marL="3541883" indent="0">
              <a:buNone/>
              <a:defRPr sz="1771" b="1"/>
            </a:lvl8pPr>
            <a:lvl9pPr marL="4047866" indent="0">
              <a:buNone/>
              <a:defRPr sz="177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6784" y="2772399"/>
            <a:ext cx="4525152" cy="40777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15141" y="1860565"/>
            <a:ext cx="4547438" cy="911834"/>
          </a:xfrm>
        </p:spPr>
        <p:txBody>
          <a:bodyPr anchor="b"/>
          <a:lstStyle>
            <a:lvl1pPr marL="0" indent="0">
              <a:buNone/>
              <a:defRPr sz="2656" b="1"/>
            </a:lvl1pPr>
            <a:lvl2pPr marL="505983" indent="0">
              <a:buNone/>
              <a:defRPr sz="2213" b="1"/>
            </a:lvl2pPr>
            <a:lvl3pPr marL="1011966" indent="0">
              <a:buNone/>
              <a:defRPr sz="1992" b="1"/>
            </a:lvl3pPr>
            <a:lvl4pPr marL="1517950" indent="0">
              <a:buNone/>
              <a:defRPr sz="1771" b="1"/>
            </a:lvl4pPr>
            <a:lvl5pPr marL="2023933" indent="0">
              <a:buNone/>
              <a:defRPr sz="1771" b="1"/>
            </a:lvl5pPr>
            <a:lvl6pPr marL="2529916" indent="0">
              <a:buNone/>
              <a:defRPr sz="1771" b="1"/>
            </a:lvl6pPr>
            <a:lvl7pPr marL="3035899" indent="0">
              <a:buNone/>
              <a:defRPr sz="1771" b="1"/>
            </a:lvl7pPr>
            <a:lvl8pPr marL="3541883" indent="0">
              <a:buNone/>
              <a:defRPr sz="1771" b="1"/>
            </a:lvl8pPr>
            <a:lvl9pPr marL="4047866" indent="0">
              <a:buNone/>
              <a:defRPr sz="177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15141" y="2772399"/>
            <a:ext cx="4547438" cy="40777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2A3C1-395D-48C2-A2EA-C25AE9301880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354C0-EBD0-4001-BDE7-C5A528EB3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3127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2A3C1-395D-48C2-A2EA-C25AE9301880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354C0-EBD0-4001-BDE7-C5A528EB3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9812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2A3C1-395D-48C2-A2EA-C25AE9301880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354C0-EBD0-4001-BDE7-C5A528EB3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559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783" y="505989"/>
            <a:ext cx="3449924" cy="1770962"/>
          </a:xfrm>
        </p:spPr>
        <p:txBody>
          <a:bodyPr anchor="b"/>
          <a:lstStyle>
            <a:lvl1pPr>
              <a:defRPr sz="354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7438" y="1092798"/>
            <a:ext cx="5415141" cy="5393704"/>
          </a:xfrm>
        </p:spPr>
        <p:txBody>
          <a:bodyPr/>
          <a:lstStyle>
            <a:lvl1pPr>
              <a:defRPr sz="3541"/>
            </a:lvl1pPr>
            <a:lvl2pPr>
              <a:defRPr sz="3099"/>
            </a:lvl2pPr>
            <a:lvl3pPr>
              <a:defRPr sz="2656"/>
            </a:lvl3pPr>
            <a:lvl4pPr>
              <a:defRPr sz="2213"/>
            </a:lvl4pPr>
            <a:lvl5pPr>
              <a:defRPr sz="2213"/>
            </a:lvl5pPr>
            <a:lvl6pPr>
              <a:defRPr sz="2213"/>
            </a:lvl6pPr>
            <a:lvl7pPr>
              <a:defRPr sz="2213"/>
            </a:lvl7pPr>
            <a:lvl8pPr>
              <a:defRPr sz="2213"/>
            </a:lvl8pPr>
            <a:lvl9pPr>
              <a:defRPr sz="221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783" y="2276951"/>
            <a:ext cx="3449924" cy="4218334"/>
          </a:xfrm>
        </p:spPr>
        <p:txBody>
          <a:bodyPr/>
          <a:lstStyle>
            <a:lvl1pPr marL="0" indent="0">
              <a:buNone/>
              <a:defRPr sz="1771"/>
            </a:lvl1pPr>
            <a:lvl2pPr marL="505983" indent="0">
              <a:buNone/>
              <a:defRPr sz="1549"/>
            </a:lvl2pPr>
            <a:lvl3pPr marL="1011966" indent="0">
              <a:buNone/>
              <a:defRPr sz="1328"/>
            </a:lvl3pPr>
            <a:lvl4pPr marL="1517950" indent="0">
              <a:buNone/>
              <a:defRPr sz="1107"/>
            </a:lvl4pPr>
            <a:lvl5pPr marL="2023933" indent="0">
              <a:buNone/>
              <a:defRPr sz="1107"/>
            </a:lvl5pPr>
            <a:lvl6pPr marL="2529916" indent="0">
              <a:buNone/>
              <a:defRPr sz="1107"/>
            </a:lvl6pPr>
            <a:lvl7pPr marL="3035899" indent="0">
              <a:buNone/>
              <a:defRPr sz="1107"/>
            </a:lvl7pPr>
            <a:lvl8pPr marL="3541883" indent="0">
              <a:buNone/>
              <a:defRPr sz="1107"/>
            </a:lvl8pPr>
            <a:lvl9pPr marL="4047866" indent="0">
              <a:buNone/>
              <a:defRPr sz="110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2A3C1-395D-48C2-A2EA-C25AE9301880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354C0-EBD0-4001-BDE7-C5A528EB3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6429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783" y="505989"/>
            <a:ext cx="3449924" cy="1770962"/>
          </a:xfrm>
        </p:spPr>
        <p:txBody>
          <a:bodyPr anchor="b"/>
          <a:lstStyle>
            <a:lvl1pPr>
              <a:defRPr sz="354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47438" y="1092798"/>
            <a:ext cx="5415141" cy="5393704"/>
          </a:xfrm>
        </p:spPr>
        <p:txBody>
          <a:bodyPr anchor="t"/>
          <a:lstStyle>
            <a:lvl1pPr marL="0" indent="0">
              <a:buNone/>
              <a:defRPr sz="3541"/>
            </a:lvl1pPr>
            <a:lvl2pPr marL="505983" indent="0">
              <a:buNone/>
              <a:defRPr sz="3099"/>
            </a:lvl2pPr>
            <a:lvl3pPr marL="1011966" indent="0">
              <a:buNone/>
              <a:defRPr sz="2656"/>
            </a:lvl3pPr>
            <a:lvl4pPr marL="1517950" indent="0">
              <a:buNone/>
              <a:defRPr sz="2213"/>
            </a:lvl4pPr>
            <a:lvl5pPr marL="2023933" indent="0">
              <a:buNone/>
              <a:defRPr sz="2213"/>
            </a:lvl5pPr>
            <a:lvl6pPr marL="2529916" indent="0">
              <a:buNone/>
              <a:defRPr sz="2213"/>
            </a:lvl6pPr>
            <a:lvl7pPr marL="3035899" indent="0">
              <a:buNone/>
              <a:defRPr sz="2213"/>
            </a:lvl7pPr>
            <a:lvl8pPr marL="3541883" indent="0">
              <a:buNone/>
              <a:defRPr sz="2213"/>
            </a:lvl8pPr>
            <a:lvl9pPr marL="4047866" indent="0">
              <a:buNone/>
              <a:defRPr sz="221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783" y="2276951"/>
            <a:ext cx="3449924" cy="4218334"/>
          </a:xfrm>
        </p:spPr>
        <p:txBody>
          <a:bodyPr/>
          <a:lstStyle>
            <a:lvl1pPr marL="0" indent="0">
              <a:buNone/>
              <a:defRPr sz="1771"/>
            </a:lvl1pPr>
            <a:lvl2pPr marL="505983" indent="0">
              <a:buNone/>
              <a:defRPr sz="1549"/>
            </a:lvl2pPr>
            <a:lvl3pPr marL="1011966" indent="0">
              <a:buNone/>
              <a:defRPr sz="1328"/>
            </a:lvl3pPr>
            <a:lvl4pPr marL="1517950" indent="0">
              <a:buNone/>
              <a:defRPr sz="1107"/>
            </a:lvl4pPr>
            <a:lvl5pPr marL="2023933" indent="0">
              <a:buNone/>
              <a:defRPr sz="1107"/>
            </a:lvl5pPr>
            <a:lvl6pPr marL="2529916" indent="0">
              <a:buNone/>
              <a:defRPr sz="1107"/>
            </a:lvl6pPr>
            <a:lvl7pPr marL="3035899" indent="0">
              <a:buNone/>
              <a:defRPr sz="1107"/>
            </a:lvl7pPr>
            <a:lvl8pPr marL="3541883" indent="0">
              <a:buNone/>
              <a:defRPr sz="1107"/>
            </a:lvl8pPr>
            <a:lvl9pPr marL="4047866" indent="0">
              <a:buNone/>
              <a:defRPr sz="110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2A3C1-395D-48C2-A2EA-C25AE9301880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354C0-EBD0-4001-BDE7-C5A528EB3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11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2A3C1-395D-48C2-A2EA-C25AE9301880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354C0-EBD0-4001-BDE7-C5A528EB3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122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54737" y="404089"/>
            <a:ext cx="2306449" cy="643203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5390" y="404089"/>
            <a:ext cx="6785640" cy="64320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2A3C1-395D-48C2-A2EA-C25AE9301880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354C0-EBD0-4001-BDE7-C5A528EB3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7748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5390" y="404090"/>
            <a:ext cx="9225796" cy="14670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5390" y="2020443"/>
            <a:ext cx="9225796" cy="48156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390" y="7034657"/>
            <a:ext cx="2406729" cy="4040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F2A3C1-395D-48C2-A2EA-C25AE9301880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43241" y="7034657"/>
            <a:ext cx="3610094" cy="4040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54456" y="7034657"/>
            <a:ext cx="2406729" cy="4040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1354C0-EBD0-4001-BDE7-C5A528EB3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969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011966" rtl="0" eaLnBrk="1" latinLnBrk="0" hangingPunct="1">
        <a:lnSpc>
          <a:spcPct val="90000"/>
        </a:lnSpc>
        <a:spcBef>
          <a:spcPct val="0"/>
        </a:spcBef>
        <a:buNone/>
        <a:defRPr sz="486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2992" indent="-252992" algn="l" defTabSz="1011966" rtl="0" eaLnBrk="1" latinLnBrk="0" hangingPunct="1">
        <a:lnSpc>
          <a:spcPct val="90000"/>
        </a:lnSpc>
        <a:spcBef>
          <a:spcPts val="1107"/>
        </a:spcBef>
        <a:buFont typeface="Arial" panose="020B0604020202020204" pitchFamily="34" charset="0"/>
        <a:buChar char="•"/>
        <a:defRPr sz="3099" kern="1200">
          <a:solidFill>
            <a:schemeClr val="tx1"/>
          </a:solidFill>
          <a:latin typeface="+mn-lt"/>
          <a:ea typeface="+mn-ea"/>
          <a:cs typeface="+mn-cs"/>
        </a:defRPr>
      </a:lvl1pPr>
      <a:lvl2pPr marL="758975" indent="-252992" algn="l" defTabSz="1011966" rtl="0" eaLnBrk="1" latinLnBrk="0" hangingPunct="1">
        <a:lnSpc>
          <a:spcPct val="90000"/>
        </a:lnSpc>
        <a:spcBef>
          <a:spcPts val="553"/>
        </a:spcBef>
        <a:buFont typeface="Arial" panose="020B0604020202020204" pitchFamily="34" charset="0"/>
        <a:buChar char="•"/>
        <a:defRPr sz="2656" kern="1200">
          <a:solidFill>
            <a:schemeClr val="tx1"/>
          </a:solidFill>
          <a:latin typeface="+mn-lt"/>
          <a:ea typeface="+mn-ea"/>
          <a:cs typeface="+mn-cs"/>
        </a:defRPr>
      </a:lvl2pPr>
      <a:lvl3pPr marL="1264958" indent="-252992" algn="l" defTabSz="1011966" rtl="0" eaLnBrk="1" latinLnBrk="0" hangingPunct="1">
        <a:lnSpc>
          <a:spcPct val="90000"/>
        </a:lnSpc>
        <a:spcBef>
          <a:spcPts val="553"/>
        </a:spcBef>
        <a:buFont typeface="Arial" panose="020B0604020202020204" pitchFamily="34" charset="0"/>
        <a:buChar char="•"/>
        <a:defRPr sz="2213" kern="1200">
          <a:solidFill>
            <a:schemeClr val="tx1"/>
          </a:solidFill>
          <a:latin typeface="+mn-lt"/>
          <a:ea typeface="+mn-ea"/>
          <a:cs typeface="+mn-cs"/>
        </a:defRPr>
      </a:lvl3pPr>
      <a:lvl4pPr marL="1770941" indent="-252992" algn="l" defTabSz="1011966" rtl="0" eaLnBrk="1" latinLnBrk="0" hangingPunct="1">
        <a:lnSpc>
          <a:spcPct val="90000"/>
        </a:lnSpc>
        <a:spcBef>
          <a:spcPts val="553"/>
        </a:spcBef>
        <a:buFont typeface="Arial" panose="020B0604020202020204" pitchFamily="34" charset="0"/>
        <a:buChar char="•"/>
        <a:defRPr sz="1992" kern="1200">
          <a:solidFill>
            <a:schemeClr val="tx1"/>
          </a:solidFill>
          <a:latin typeface="+mn-lt"/>
          <a:ea typeface="+mn-ea"/>
          <a:cs typeface="+mn-cs"/>
        </a:defRPr>
      </a:lvl4pPr>
      <a:lvl5pPr marL="2276925" indent="-252992" algn="l" defTabSz="1011966" rtl="0" eaLnBrk="1" latinLnBrk="0" hangingPunct="1">
        <a:lnSpc>
          <a:spcPct val="90000"/>
        </a:lnSpc>
        <a:spcBef>
          <a:spcPts val="553"/>
        </a:spcBef>
        <a:buFont typeface="Arial" panose="020B0604020202020204" pitchFamily="34" charset="0"/>
        <a:buChar char="•"/>
        <a:defRPr sz="1992" kern="1200">
          <a:solidFill>
            <a:schemeClr val="tx1"/>
          </a:solidFill>
          <a:latin typeface="+mn-lt"/>
          <a:ea typeface="+mn-ea"/>
          <a:cs typeface="+mn-cs"/>
        </a:defRPr>
      </a:lvl5pPr>
      <a:lvl6pPr marL="2782908" indent="-252992" algn="l" defTabSz="1011966" rtl="0" eaLnBrk="1" latinLnBrk="0" hangingPunct="1">
        <a:lnSpc>
          <a:spcPct val="90000"/>
        </a:lnSpc>
        <a:spcBef>
          <a:spcPts val="553"/>
        </a:spcBef>
        <a:buFont typeface="Arial" panose="020B0604020202020204" pitchFamily="34" charset="0"/>
        <a:buChar char="•"/>
        <a:defRPr sz="1992" kern="1200">
          <a:solidFill>
            <a:schemeClr val="tx1"/>
          </a:solidFill>
          <a:latin typeface="+mn-lt"/>
          <a:ea typeface="+mn-ea"/>
          <a:cs typeface="+mn-cs"/>
        </a:defRPr>
      </a:lvl6pPr>
      <a:lvl7pPr marL="3288891" indent="-252992" algn="l" defTabSz="1011966" rtl="0" eaLnBrk="1" latinLnBrk="0" hangingPunct="1">
        <a:lnSpc>
          <a:spcPct val="90000"/>
        </a:lnSpc>
        <a:spcBef>
          <a:spcPts val="553"/>
        </a:spcBef>
        <a:buFont typeface="Arial" panose="020B0604020202020204" pitchFamily="34" charset="0"/>
        <a:buChar char="•"/>
        <a:defRPr sz="1992" kern="1200">
          <a:solidFill>
            <a:schemeClr val="tx1"/>
          </a:solidFill>
          <a:latin typeface="+mn-lt"/>
          <a:ea typeface="+mn-ea"/>
          <a:cs typeface="+mn-cs"/>
        </a:defRPr>
      </a:lvl7pPr>
      <a:lvl8pPr marL="3794874" indent="-252992" algn="l" defTabSz="1011966" rtl="0" eaLnBrk="1" latinLnBrk="0" hangingPunct="1">
        <a:lnSpc>
          <a:spcPct val="90000"/>
        </a:lnSpc>
        <a:spcBef>
          <a:spcPts val="553"/>
        </a:spcBef>
        <a:buFont typeface="Arial" panose="020B0604020202020204" pitchFamily="34" charset="0"/>
        <a:buChar char="•"/>
        <a:defRPr sz="1992" kern="1200">
          <a:solidFill>
            <a:schemeClr val="tx1"/>
          </a:solidFill>
          <a:latin typeface="+mn-lt"/>
          <a:ea typeface="+mn-ea"/>
          <a:cs typeface="+mn-cs"/>
        </a:defRPr>
      </a:lvl8pPr>
      <a:lvl9pPr marL="4300858" indent="-252992" algn="l" defTabSz="1011966" rtl="0" eaLnBrk="1" latinLnBrk="0" hangingPunct="1">
        <a:lnSpc>
          <a:spcPct val="90000"/>
        </a:lnSpc>
        <a:spcBef>
          <a:spcPts val="553"/>
        </a:spcBef>
        <a:buFont typeface="Arial" panose="020B0604020202020204" pitchFamily="34" charset="0"/>
        <a:buChar char="•"/>
        <a:defRPr sz="199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11966" rtl="0" eaLnBrk="1" latinLnBrk="0" hangingPunct="1">
        <a:defRPr sz="1992" kern="1200">
          <a:solidFill>
            <a:schemeClr val="tx1"/>
          </a:solidFill>
          <a:latin typeface="+mn-lt"/>
          <a:ea typeface="+mn-ea"/>
          <a:cs typeface="+mn-cs"/>
        </a:defRPr>
      </a:lvl1pPr>
      <a:lvl2pPr marL="505983" algn="l" defTabSz="1011966" rtl="0" eaLnBrk="1" latinLnBrk="0" hangingPunct="1">
        <a:defRPr sz="1992" kern="1200">
          <a:solidFill>
            <a:schemeClr val="tx1"/>
          </a:solidFill>
          <a:latin typeface="+mn-lt"/>
          <a:ea typeface="+mn-ea"/>
          <a:cs typeface="+mn-cs"/>
        </a:defRPr>
      </a:lvl2pPr>
      <a:lvl3pPr marL="1011966" algn="l" defTabSz="1011966" rtl="0" eaLnBrk="1" latinLnBrk="0" hangingPunct="1">
        <a:defRPr sz="1992" kern="1200">
          <a:solidFill>
            <a:schemeClr val="tx1"/>
          </a:solidFill>
          <a:latin typeface="+mn-lt"/>
          <a:ea typeface="+mn-ea"/>
          <a:cs typeface="+mn-cs"/>
        </a:defRPr>
      </a:lvl3pPr>
      <a:lvl4pPr marL="1517950" algn="l" defTabSz="1011966" rtl="0" eaLnBrk="1" latinLnBrk="0" hangingPunct="1">
        <a:defRPr sz="1992" kern="1200">
          <a:solidFill>
            <a:schemeClr val="tx1"/>
          </a:solidFill>
          <a:latin typeface="+mn-lt"/>
          <a:ea typeface="+mn-ea"/>
          <a:cs typeface="+mn-cs"/>
        </a:defRPr>
      </a:lvl4pPr>
      <a:lvl5pPr marL="2023933" algn="l" defTabSz="1011966" rtl="0" eaLnBrk="1" latinLnBrk="0" hangingPunct="1">
        <a:defRPr sz="1992" kern="1200">
          <a:solidFill>
            <a:schemeClr val="tx1"/>
          </a:solidFill>
          <a:latin typeface="+mn-lt"/>
          <a:ea typeface="+mn-ea"/>
          <a:cs typeface="+mn-cs"/>
        </a:defRPr>
      </a:lvl5pPr>
      <a:lvl6pPr marL="2529916" algn="l" defTabSz="1011966" rtl="0" eaLnBrk="1" latinLnBrk="0" hangingPunct="1">
        <a:defRPr sz="1992" kern="1200">
          <a:solidFill>
            <a:schemeClr val="tx1"/>
          </a:solidFill>
          <a:latin typeface="+mn-lt"/>
          <a:ea typeface="+mn-ea"/>
          <a:cs typeface="+mn-cs"/>
        </a:defRPr>
      </a:lvl6pPr>
      <a:lvl7pPr marL="3035899" algn="l" defTabSz="1011966" rtl="0" eaLnBrk="1" latinLnBrk="0" hangingPunct="1">
        <a:defRPr sz="1992" kern="1200">
          <a:solidFill>
            <a:schemeClr val="tx1"/>
          </a:solidFill>
          <a:latin typeface="+mn-lt"/>
          <a:ea typeface="+mn-ea"/>
          <a:cs typeface="+mn-cs"/>
        </a:defRPr>
      </a:lvl7pPr>
      <a:lvl8pPr marL="3541883" algn="l" defTabSz="1011966" rtl="0" eaLnBrk="1" latinLnBrk="0" hangingPunct="1">
        <a:defRPr sz="1992" kern="1200">
          <a:solidFill>
            <a:schemeClr val="tx1"/>
          </a:solidFill>
          <a:latin typeface="+mn-lt"/>
          <a:ea typeface="+mn-ea"/>
          <a:cs typeface="+mn-cs"/>
        </a:defRPr>
      </a:lvl8pPr>
      <a:lvl9pPr marL="4047866" algn="l" defTabSz="1011966" rtl="0" eaLnBrk="1" latinLnBrk="0" hangingPunct="1">
        <a:defRPr sz="199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8BB04-F248-4FAB-FA0C-98EB13050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D8B13CCC-7996-AEE2-018C-9324732FBF0E}"/>
              </a:ext>
            </a:extLst>
          </p:cNvPr>
          <p:cNvGrpSpPr/>
          <p:nvPr/>
        </p:nvGrpSpPr>
        <p:grpSpPr>
          <a:xfrm>
            <a:off x="217714" y="145501"/>
            <a:ext cx="10421257" cy="719195"/>
            <a:chOff x="73958" y="958892"/>
            <a:chExt cx="9070041" cy="276999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77E357E-7DFC-1F55-7676-6731770AFC0C}"/>
                </a:ext>
              </a:extLst>
            </p:cNvPr>
            <p:cNvSpPr txBox="1"/>
            <p:nvPr/>
          </p:nvSpPr>
          <p:spPr>
            <a:xfrm>
              <a:off x="73958" y="958892"/>
              <a:ext cx="9070041" cy="276999"/>
            </a:xfrm>
            <a:prstGeom prst="rect">
              <a:avLst/>
            </a:prstGeom>
            <a:gradFill>
              <a:gsLst>
                <a:gs pos="96000">
                  <a:srgbClr val="0C233D"/>
                </a:gs>
                <a:gs pos="69500">
                  <a:srgbClr val="455666"/>
                </a:gs>
                <a:gs pos="35000">
                  <a:srgbClr val="7D888F"/>
                </a:gs>
                <a:gs pos="8000">
                  <a:srgbClr val="DBDEE0"/>
                </a:gs>
              </a:gsLst>
              <a:lin ang="10800000" scaled="0"/>
            </a:gradFill>
            <a:effectLst>
              <a:outerShdw blurRad="38100" dist="50800" dir="5400000" algn="ctr" rotWithShape="0">
                <a:schemeClr val="tx1">
                  <a:lumMod val="50000"/>
                  <a:lumOff val="50000"/>
                </a:schemeClr>
              </a:outerShdw>
            </a:effectLst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2488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4976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7464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9953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12441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34929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7417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9905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342831">
                <a:defRPr/>
              </a:pPr>
              <a:endParaRPr lang="en-US" sz="1200" b="1" kern="0">
                <a:ln>
                  <a:solidFill>
                    <a:srgbClr val="4472C4">
                      <a:lumMod val="75000"/>
                    </a:srgbClr>
                  </a:solidFill>
                </a:ln>
                <a:solidFill>
                  <a:srgbClr val="FFC000">
                    <a:lumMod val="7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7B4911E-DF42-F300-6AB3-E5784AE55F2E}"/>
                </a:ext>
              </a:extLst>
            </p:cNvPr>
            <p:cNvSpPr txBox="1"/>
            <p:nvPr/>
          </p:nvSpPr>
          <p:spPr>
            <a:xfrm>
              <a:off x="73959" y="998133"/>
              <a:ext cx="3207404" cy="192623"/>
            </a:xfrm>
            <a:prstGeom prst="rect">
              <a:avLst/>
            </a:prstGeom>
            <a:noFill/>
          </p:spPr>
          <p:txBody>
            <a:bodyPr wrap="square" lIns="68566" tIns="34283" rIns="68566" bIns="34283" rtlCol="0" anchor="t">
              <a:spAutoFit/>
            </a:bodyPr>
            <a:lstStyle>
              <a:defPPr>
                <a:defRPr lang="en-US"/>
              </a:defPPr>
              <a:lvl1pPr marL="0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2488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4976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7464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9953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12441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34929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7417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9905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b="1" dirty="0">
                  <a:ln w="3175">
                    <a:solidFill>
                      <a:srgbClr val="FFB200"/>
                    </a:solidFill>
                  </a:ln>
                  <a:solidFill>
                    <a:schemeClr val="bg1"/>
                  </a:solidFill>
                  <a:latin typeface="Arial Nova Cond"/>
                </a:rPr>
                <a:t>Strategic Crime Reduction Analysis</a:t>
              </a:r>
            </a:p>
            <a:p>
              <a:r>
                <a:rPr lang="en-US" sz="1400" b="1" dirty="0">
                  <a:ln w="3175">
                    <a:solidFill>
                      <a:srgbClr val="FFB200"/>
                    </a:solidFill>
                  </a:ln>
                  <a:solidFill>
                    <a:schemeClr val="bg1"/>
                  </a:solidFill>
                  <a:latin typeface="Arial Nova Cond"/>
                </a:rPr>
                <a:t>Prepared by PO R. Carucci</a:t>
              </a:r>
            </a:p>
          </p:txBody>
        </p:sp>
      </p:grpSp>
      <p:pic>
        <p:nvPicPr>
          <p:cNvPr id="20" name="Picture 19" descr="A blue and yellow police badge&#10;&#10;AI-generated content may be incorrect.">
            <a:extLst>
              <a:ext uri="{FF2B5EF4-FFF2-40B4-BE49-F238E27FC236}">
                <a16:creationId xmlns:a16="http://schemas.microsoft.com/office/drawing/2014/main" id="{678E3416-C686-FDF0-8A3E-CD856CD99F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56371" y="185124"/>
            <a:ext cx="521734" cy="63994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CF1E475-552D-A49B-CD52-9D05258B07D1}"/>
              </a:ext>
            </a:extLst>
          </p:cNvPr>
          <p:cNvCxnSpPr>
            <a:cxnSpLocks/>
          </p:cNvCxnSpPr>
          <p:nvPr/>
        </p:nvCxnSpPr>
        <p:spPr>
          <a:xfrm flipH="1" flipV="1">
            <a:off x="2841352" y="974096"/>
            <a:ext cx="38127" cy="252453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09F8DE2-A8D5-629F-28CC-BD9F02AA4D95}"/>
              </a:ext>
            </a:extLst>
          </p:cNvPr>
          <p:cNvCxnSpPr>
            <a:cxnSpLocks/>
          </p:cNvCxnSpPr>
          <p:nvPr/>
        </p:nvCxnSpPr>
        <p:spPr>
          <a:xfrm flipH="1">
            <a:off x="326571" y="3491641"/>
            <a:ext cx="1000034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2E4D2F0-48AC-1E78-A65A-1C25D0D7E5D5}"/>
              </a:ext>
            </a:extLst>
          </p:cNvPr>
          <p:cNvSpPr txBox="1"/>
          <p:nvPr/>
        </p:nvSpPr>
        <p:spPr>
          <a:xfrm>
            <a:off x="2911170" y="964212"/>
            <a:ext cx="7455998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2488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4976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7464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9953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12441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34929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417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9905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dirty="0">
                <a:latin typeface="Arial Nova Cond"/>
              </a:rPr>
              <a:t>Pattern Offenders/Suspects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C413AF-7BDC-95C3-D7E3-FFEA18782840}"/>
              </a:ext>
            </a:extLst>
          </p:cNvPr>
          <p:cNvSpPr txBox="1"/>
          <p:nvPr/>
        </p:nvSpPr>
        <p:spPr>
          <a:xfrm>
            <a:off x="217714" y="974096"/>
            <a:ext cx="2608258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2000" b="1" dirty="0">
                <a:latin typeface="Arial Nova Cond"/>
              </a:rPr>
              <a:t>Motor Vehicle Theft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9774AC32-66C6-2C48-3131-50BB390389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4000517"/>
            <a:ext cx="5409791" cy="35721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B6C122B-E95A-D6DD-DA1D-BE1CABD816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1513" y="4424020"/>
            <a:ext cx="4828263" cy="2725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3832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8BD94-862C-5084-F00F-ABF51C15A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F134F7C-C743-51D2-2926-D278E2E4E5BF}"/>
              </a:ext>
            </a:extLst>
          </p:cNvPr>
          <p:cNvGrpSpPr/>
          <p:nvPr/>
        </p:nvGrpSpPr>
        <p:grpSpPr>
          <a:xfrm>
            <a:off x="217714" y="145501"/>
            <a:ext cx="10421257" cy="719195"/>
            <a:chOff x="73958" y="958892"/>
            <a:chExt cx="9070041" cy="276999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5ACFD2F-B17A-D508-5D45-705A583A5576}"/>
                </a:ext>
              </a:extLst>
            </p:cNvPr>
            <p:cNvSpPr txBox="1"/>
            <p:nvPr/>
          </p:nvSpPr>
          <p:spPr>
            <a:xfrm>
              <a:off x="73958" y="958892"/>
              <a:ext cx="9070041" cy="276999"/>
            </a:xfrm>
            <a:prstGeom prst="rect">
              <a:avLst/>
            </a:prstGeom>
            <a:gradFill>
              <a:gsLst>
                <a:gs pos="96000">
                  <a:srgbClr val="0C233D"/>
                </a:gs>
                <a:gs pos="69500">
                  <a:srgbClr val="455666"/>
                </a:gs>
                <a:gs pos="35000">
                  <a:srgbClr val="7D888F"/>
                </a:gs>
                <a:gs pos="8000">
                  <a:srgbClr val="DBDEE0"/>
                </a:gs>
              </a:gsLst>
              <a:lin ang="10800000" scaled="0"/>
            </a:gradFill>
            <a:effectLst>
              <a:outerShdw blurRad="38100" dist="50800" dir="5400000" algn="ctr" rotWithShape="0">
                <a:schemeClr val="tx1">
                  <a:lumMod val="50000"/>
                  <a:lumOff val="50000"/>
                </a:schemeClr>
              </a:outerShdw>
            </a:effectLst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2488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4976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7464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9953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12441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34929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7417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9905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342831">
                <a:defRPr/>
              </a:pPr>
              <a:endParaRPr lang="en-US" sz="1200" b="1" kern="0">
                <a:ln>
                  <a:solidFill>
                    <a:srgbClr val="4472C4">
                      <a:lumMod val="75000"/>
                    </a:srgbClr>
                  </a:solidFill>
                </a:ln>
                <a:solidFill>
                  <a:srgbClr val="FFC000">
                    <a:lumMod val="7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47D870E-1A6C-1618-6BD7-8B76210F0DB9}"/>
                </a:ext>
              </a:extLst>
            </p:cNvPr>
            <p:cNvSpPr txBox="1"/>
            <p:nvPr/>
          </p:nvSpPr>
          <p:spPr>
            <a:xfrm>
              <a:off x="73959" y="998133"/>
              <a:ext cx="3207404" cy="192623"/>
            </a:xfrm>
            <a:prstGeom prst="rect">
              <a:avLst/>
            </a:prstGeom>
            <a:noFill/>
          </p:spPr>
          <p:txBody>
            <a:bodyPr wrap="square" lIns="68566" tIns="34283" rIns="68566" bIns="34283" rtlCol="0" anchor="t">
              <a:spAutoFit/>
            </a:bodyPr>
            <a:lstStyle>
              <a:defPPr>
                <a:defRPr lang="en-US"/>
              </a:defPPr>
              <a:lvl1pPr marL="0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2488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4976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7464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9953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12441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34929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7417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9905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b="1" dirty="0">
                  <a:ln w="3175">
                    <a:solidFill>
                      <a:srgbClr val="FFB200"/>
                    </a:solidFill>
                  </a:ln>
                  <a:solidFill>
                    <a:schemeClr val="bg1"/>
                  </a:solidFill>
                  <a:latin typeface="Arial Nova Cond"/>
                </a:rPr>
                <a:t>Strategic Crime Reduction Analysis</a:t>
              </a:r>
            </a:p>
            <a:p>
              <a:r>
                <a:rPr lang="en-US" sz="1400" b="1" dirty="0">
                  <a:ln w="3175">
                    <a:solidFill>
                      <a:srgbClr val="FFB200"/>
                    </a:solidFill>
                  </a:ln>
                  <a:solidFill>
                    <a:schemeClr val="bg1"/>
                  </a:solidFill>
                  <a:latin typeface="Arial Nova Cond"/>
                </a:rPr>
                <a:t>Prepared by PO R. Carucci</a:t>
              </a:r>
            </a:p>
          </p:txBody>
        </p:sp>
      </p:grpSp>
      <p:pic>
        <p:nvPicPr>
          <p:cNvPr id="20" name="Picture 19" descr="A blue and yellow police badge&#10;&#10;AI-generated content may be incorrect.">
            <a:extLst>
              <a:ext uri="{FF2B5EF4-FFF2-40B4-BE49-F238E27FC236}">
                <a16:creationId xmlns:a16="http://schemas.microsoft.com/office/drawing/2014/main" id="{36DA73C4-479C-D89B-1C89-C85110125F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56371" y="185124"/>
            <a:ext cx="521734" cy="63994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C3362C4-42D1-66FD-EC7C-A40AE25DE4A1}"/>
              </a:ext>
            </a:extLst>
          </p:cNvPr>
          <p:cNvCxnSpPr>
            <a:cxnSpLocks/>
          </p:cNvCxnSpPr>
          <p:nvPr/>
        </p:nvCxnSpPr>
        <p:spPr>
          <a:xfrm flipH="1" flipV="1">
            <a:off x="2923845" y="888730"/>
            <a:ext cx="40934" cy="259566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C4F9CC5-942C-39C4-FE4E-9B6766C0E69D}"/>
              </a:ext>
            </a:extLst>
          </p:cNvPr>
          <p:cNvCxnSpPr>
            <a:cxnSpLocks/>
          </p:cNvCxnSpPr>
          <p:nvPr/>
        </p:nvCxnSpPr>
        <p:spPr>
          <a:xfrm flipH="1">
            <a:off x="326571" y="3491641"/>
            <a:ext cx="1000034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F8150FF-39F4-EA25-B25C-851CF0745473}"/>
              </a:ext>
            </a:extLst>
          </p:cNvPr>
          <p:cNvSpPr txBox="1"/>
          <p:nvPr/>
        </p:nvSpPr>
        <p:spPr>
          <a:xfrm>
            <a:off x="2911170" y="964212"/>
            <a:ext cx="7455998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2488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4976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7464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9953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12441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34929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417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9905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dirty="0">
                <a:latin typeface="Arial Nova Cond"/>
              </a:rPr>
              <a:t>Pattern Offenders/Suspects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D14656-8426-98D6-031E-BC6C4C622DDD}"/>
              </a:ext>
            </a:extLst>
          </p:cNvPr>
          <p:cNvSpPr txBox="1"/>
          <p:nvPr/>
        </p:nvSpPr>
        <p:spPr>
          <a:xfrm>
            <a:off x="217714" y="974096"/>
            <a:ext cx="2608258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2000" b="1" dirty="0">
                <a:latin typeface="Arial Nova Cond"/>
              </a:rPr>
              <a:t>Motor Vehicle Burglary</a:t>
            </a:r>
          </a:p>
          <a:p>
            <a:pPr algn="ctr"/>
            <a:endParaRPr lang="en-US" sz="2000" b="1" dirty="0">
              <a:latin typeface="Arial Nova Cond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C1BA37-EA68-142C-E61E-9481B2FD15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24496" y="3557798"/>
            <a:ext cx="5171670" cy="3996108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C4D2E5C8-AC3B-A250-550F-991333009E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6579" y="3575024"/>
            <a:ext cx="5271708" cy="397919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8C42F42-A0B4-90C1-D948-A2870EE39CB8}"/>
              </a:ext>
            </a:extLst>
          </p:cNvPr>
          <p:cNvSpPr txBox="1"/>
          <p:nvPr/>
        </p:nvSpPr>
        <p:spPr>
          <a:xfrm>
            <a:off x="2923845" y="1388356"/>
            <a:ext cx="3315187" cy="1954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Date:</a:t>
            </a:r>
            <a:r>
              <a:rPr lang="en-US" sz="1100" dirty="0"/>
              <a:t> 06/25/2025</a:t>
            </a:r>
            <a:br>
              <a:rPr lang="en-US" sz="1100" dirty="0"/>
            </a:br>
            <a:r>
              <a:rPr lang="en-US" sz="1100" b="1" dirty="0"/>
              <a:t>Location:</a:t>
            </a:r>
            <a:r>
              <a:rPr lang="en-US" sz="1100" dirty="0"/>
              <a:t> 355 W </a:t>
            </a:r>
            <a:r>
              <a:rPr lang="en-US" sz="1100" dirty="0" err="1"/>
              <a:t>Pleasantview</a:t>
            </a:r>
            <a:r>
              <a:rPr lang="en-US" sz="1100" dirty="0"/>
              <a:t> Ave</a:t>
            </a:r>
            <a:br>
              <a:rPr lang="en-US" sz="1100" dirty="0"/>
            </a:br>
            <a:r>
              <a:rPr lang="en-US" sz="1100" b="1" dirty="0"/>
              <a:t>Type:</a:t>
            </a:r>
            <a:r>
              <a:rPr lang="en-US" sz="1100" dirty="0"/>
              <a:t> Burglary to Auto</a:t>
            </a:r>
            <a:br>
              <a:rPr lang="en-US" sz="1100" dirty="0"/>
            </a:br>
            <a:r>
              <a:rPr lang="en-US" sz="1100" b="1" dirty="0"/>
              <a:t>Summary:</a:t>
            </a:r>
            <a:br>
              <a:rPr lang="en-US" sz="1100" dirty="0"/>
            </a:br>
            <a:r>
              <a:rPr lang="en-US" sz="1100" dirty="0"/>
              <a:t>Victim David Cohen parked his vehicle at approx. 1245 </a:t>
            </a:r>
            <a:r>
              <a:rPr lang="en-US" sz="1100" dirty="0" err="1"/>
              <a:t>hrs</a:t>
            </a:r>
            <a:r>
              <a:rPr lang="en-US" sz="1100" dirty="0"/>
              <a:t> with windows down. Upon return approx. 1 hour later, interior was found disturbed and wallet missing. Wallet contained $80–$100 and 3 credit cards. No forced entry observed. Victim declined evidence processing. Loss estimated at $90–$110. Notification forms completed.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C11577-9DA5-003E-4DAA-E96DB3C0E6A4}"/>
              </a:ext>
            </a:extLst>
          </p:cNvPr>
          <p:cNvSpPr txBox="1"/>
          <p:nvPr/>
        </p:nvSpPr>
        <p:spPr>
          <a:xfrm>
            <a:off x="6411951" y="1472994"/>
            <a:ext cx="4066910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Date:</a:t>
            </a:r>
            <a:r>
              <a:rPr lang="en-US" sz="1100" dirty="0"/>
              <a:t> 06/30/2025</a:t>
            </a:r>
            <a:br>
              <a:rPr lang="en-US" sz="1100" dirty="0"/>
            </a:br>
            <a:r>
              <a:rPr lang="en-US" sz="1100" b="1" dirty="0"/>
              <a:t>Location:</a:t>
            </a:r>
            <a:r>
              <a:rPr lang="en-US" sz="1100" dirty="0"/>
              <a:t> [Address Not Provided]</a:t>
            </a:r>
            <a:br>
              <a:rPr lang="en-US" sz="1100" dirty="0"/>
            </a:br>
            <a:r>
              <a:rPr lang="en-US" sz="1100" b="1" dirty="0"/>
              <a:t>Type:</a:t>
            </a:r>
            <a:r>
              <a:rPr lang="en-US" sz="1100" dirty="0"/>
              <a:t> Burglary to Auto</a:t>
            </a:r>
            <a:br>
              <a:rPr lang="en-US" sz="1100" dirty="0"/>
            </a:br>
            <a:r>
              <a:rPr lang="en-US" sz="1100" b="1" dirty="0"/>
              <a:t>Summary:</a:t>
            </a:r>
            <a:br>
              <a:rPr lang="en-US" sz="1100" dirty="0"/>
            </a:br>
            <a:r>
              <a:rPr lang="en-US" sz="1100" dirty="0"/>
              <a:t>Victim discovered his work vehicle had been forcibly entered between 1500 </a:t>
            </a:r>
            <a:r>
              <a:rPr lang="en-US" sz="1100" dirty="0" err="1"/>
              <a:t>hrs</a:t>
            </a:r>
            <a:r>
              <a:rPr lang="en-US" sz="1100" dirty="0"/>
              <a:t> on 06/29 and 0730 </a:t>
            </a:r>
            <a:r>
              <a:rPr lang="en-US" sz="1100" dirty="0" err="1"/>
              <a:t>hrs</a:t>
            </a:r>
            <a:r>
              <a:rPr lang="en-US" sz="1100" dirty="0"/>
              <a:t> on 06/30. Lock and ignition were damaged; tools valued at approximately $5,000 stolen. Notable items include laser tools, saws, compressor, and Milwaukee-brand tools/batteries. No suspects reported. Victim notification form completed. D/Sgt. P. Williams advised.</a:t>
            </a:r>
          </a:p>
        </p:txBody>
      </p:sp>
    </p:spTree>
    <p:extLst>
      <p:ext uri="{BB962C8B-B14F-4D97-AF65-F5344CB8AC3E}">
        <p14:creationId xmlns:p14="http://schemas.microsoft.com/office/powerpoint/2010/main" val="14283301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E802C-34F3-6B95-3C20-79CFB967A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B0F8D994-B46B-C471-D212-5FC8272D995F}"/>
              </a:ext>
            </a:extLst>
          </p:cNvPr>
          <p:cNvGrpSpPr/>
          <p:nvPr/>
        </p:nvGrpSpPr>
        <p:grpSpPr>
          <a:xfrm>
            <a:off x="217714" y="145501"/>
            <a:ext cx="10421257" cy="719195"/>
            <a:chOff x="73958" y="958892"/>
            <a:chExt cx="9070041" cy="276999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AE4EDCC-2444-E4EF-8539-2FCCAB7285E7}"/>
                </a:ext>
              </a:extLst>
            </p:cNvPr>
            <p:cNvSpPr txBox="1"/>
            <p:nvPr/>
          </p:nvSpPr>
          <p:spPr>
            <a:xfrm>
              <a:off x="73958" y="958892"/>
              <a:ext cx="9070041" cy="276999"/>
            </a:xfrm>
            <a:prstGeom prst="rect">
              <a:avLst/>
            </a:prstGeom>
            <a:gradFill>
              <a:gsLst>
                <a:gs pos="96000">
                  <a:srgbClr val="0C233D"/>
                </a:gs>
                <a:gs pos="69500">
                  <a:srgbClr val="455666"/>
                </a:gs>
                <a:gs pos="35000">
                  <a:srgbClr val="7D888F"/>
                </a:gs>
                <a:gs pos="8000">
                  <a:srgbClr val="DBDEE0"/>
                </a:gs>
              </a:gsLst>
              <a:lin ang="10800000" scaled="0"/>
            </a:gradFill>
            <a:effectLst>
              <a:outerShdw blurRad="38100" dist="50800" dir="5400000" algn="ctr" rotWithShape="0">
                <a:schemeClr val="tx1">
                  <a:lumMod val="50000"/>
                  <a:lumOff val="50000"/>
                </a:schemeClr>
              </a:outerShdw>
            </a:effectLst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2488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4976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7464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9953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12441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34929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7417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9905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342831">
                <a:defRPr/>
              </a:pPr>
              <a:endParaRPr lang="en-US" sz="1200" b="1" kern="0">
                <a:ln>
                  <a:solidFill>
                    <a:srgbClr val="4472C4">
                      <a:lumMod val="75000"/>
                    </a:srgbClr>
                  </a:solidFill>
                </a:ln>
                <a:solidFill>
                  <a:srgbClr val="FFC000">
                    <a:lumMod val="7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92054FD-44D7-4EAF-EA53-602C016C9817}"/>
                </a:ext>
              </a:extLst>
            </p:cNvPr>
            <p:cNvSpPr txBox="1"/>
            <p:nvPr/>
          </p:nvSpPr>
          <p:spPr>
            <a:xfrm>
              <a:off x="73959" y="998133"/>
              <a:ext cx="3207404" cy="192623"/>
            </a:xfrm>
            <a:prstGeom prst="rect">
              <a:avLst/>
            </a:prstGeom>
            <a:noFill/>
          </p:spPr>
          <p:txBody>
            <a:bodyPr wrap="square" lIns="68566" tIns="34283" rIns="68566" bIns="34283" rtlCol="0" anchor="t">
              <a:spAutoFit/>
            </a:bodyPr>
            <a:lstStyle>
              <a:defPPr>
                <a:defRPr lang="en-US"/>
              </a:defPPr>
              <a:lvl1pPr marL="0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2488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4976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7464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9953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12441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34929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7417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9905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b="1" dirty="0">
                  <a:ln w="3175">
                    <a:solidFill>
                      <a:srgbClr val="FFB200"/>
                    </a:solidFill>
                  </a:ln>
                  <a:solidFill>
                    <a:schemeClr val="bg1"/>
                  </a:solidFill>
                  <a:latin typeface="Arial Nova Cond"/>
                </a:rPr>
                <a:t>Strategic Crime Reduction Analysis</a:t>
              </a:r>
            </a:p>
            <a:p>
              <a:r>
                <a:rPr lang="en-US" sz="1400" b="1" dirty="0">
                  <a:ln w="3175">
                    <a:solidFill>
                      <a:srgbClr val="FFB200"/>
                    </a:solidFill>
                  </a:ln>
                  <a:solidFill>
                    <a:schemeClr val="bg1"/>
                  </a:solidFill>
                  <a:latin typeface="Arial Nova Cond"/>
                </a:rPr>
                <a:t>Prepared by PO R. Carucci</a:t>
              </a:r>
            </a:p>
          </p:txBody>
        </p:sp>
      </p:grpSp>
      <p:pic>
        <p:nvPicPr>
          <p:cNvPr id="20" name="Picture 19" descr="A blue and yellow police badge&#10;&#10;AI-generated content may be incorrect.">
            <a:extLst>
              <a:ext uri="{FF2B5EF4-FFF2-40B4-BE49-F238E27FC236}">
                <a16:creationId xmlns:a16="http://schemas.microsoft.com/office/drawing/2014/main" id="{9A82255E-BF55-3923-55CD-B9DB4E3D742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56371" y="185124"/>
            <a:ext cx="521734" cy="63994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3B0FBBC-BD58-B5AE-DB15-8A7DA2953B2E}"/>
              </a:ext>
            </a:extLst>
          </p:cNvPr>
          <p:cNvCxnSpPr>
            <a:cxnSpLocks/>
          </p:cNvCxnSpPr>
          <p:nvPr/>
        </p:nvCxnSpPr>
        <p:spPr>
          <a:xfrm flipH="1" flipV="1">
            <a:off x="2999822" y="1088635"/>
            <a:ext cx="17015" cy="24049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9CE8C51-55FD-0FEA-F2A7-EB17F0CD965E}"/>
              </a:ext>
            </a:extLst>
          </p:cNvPr>
          <p:cNvCxnSpPr>
            <a:cxnSpLocks/>
          </p:cNvCxnSpPr>
          <p:nvPr/>
        </p:nvCxnSpPr>
        <p:spPr>
          <a:xfrm flipH="1">
            <a:off x="326571" y="3491641"/>
            <a:ext cx="1000034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B42DC9A-D4CC-7347-BBDD-F6D12D750CC0}"/>
              </a:ext>
            </a:extLst>
          </p:cNvPr>
          <p:cNvSpPr txBox="1"/>
          <p:nvPr/>
        </p:nvSpPr>
        <p:spPr>
          <a:xfrm>
            <a:off x="2911170" y="964212"/>
            <a:ext cx="7455998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2488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4976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7464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9953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12441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34929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417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9905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dirty="0">
                <a:latin typeface="Arial Nova Cond"/>
              </a:rPr>
              <a:t>Pattern Offenders/Suspects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C292FF-5831-64E7-CAA0-8DE0E8D149BD}"/>
              </a:ext>
            </a:extLst>
          </p:cNvPr>
          <p:cNvSpPr txBox="1"/>
          <p:nvPr/>
        </p:nvSpPr>
        <p:spPr>
          <a:xfrm>
            <a:off x="217714" y="974096"/>
            <a:ext cx="2608258" cy="1323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2000" b="1" dirty="0">
                <a:latin typeface="Arial Nova Cond"/>
              </a:rPr>
              <a:t>Residential &amp; Commercial Burglaries</a:t>
            </a:r>
          </a:p>
          <a:p>
            <a:pPr algn="ctr"/>
            <a:endParaRPr lang="en-US" sz="2000" b="1" dirty="0">
              <a:latin typeface="Arial Nova Cond"/>
            </a:endParaRPr>
          </a:p>
          <a:p>
            <a:pPr algn="ctr"/>
            <a:endParaRPr lang="en-US" sz="2000" b="1" dirty="0">
              <a:latin typeface="Arial Nova Cond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371FCE-F461-E013-B761-602DA1D767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16714" y="3551784"/>
            <a:ext cx="5179452" cy="400212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05BEAF67-A88A-E97D-980C-C79BF3C276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3552102"/>
            <a:ext cx="5348287" cy="400212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AB0369B-1B6A-64BB-8717-2A7BA3490536}"/>
              </a:ext>
            </a:extLst>
          </p:cNvPr>
          <p:cNvSpPr txBox="1"/>
          <p:nvPr/>
        </p:nvSpPr>
        <p:spPr>
          <a:xfrm>
            <a:off x="3100039" y="1382458"/>
            <a:ext cx="3402528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Date:</a:t>
            </a:r>
            <a:r>
              <a:rPr lang="en-US" sz="1100" dirty="0"/>
              <a:t> 06/27/2025</a:t>
            </a:r>
            <a:br>
              <a:rPr lang="en-US" sz="1100" dirty="0"/>
            </a:br>
            <a:r>
              <a:rPr lang="en-US" sz="1100" b="1" dirty="0"/>
              <a:t>Location:</a:t>
            </a:r>
            <a:r>
              <a:rPr lang="en-US" sz="1100" dirty="0"/>
              <a:t> 77 Prospect</a:t>
            </a:r>
            <a:br>
              <a:rPr lang="en-US" sz="1100" dirty="0"/>
            </a:br>
            <a:r>
              <a:rPr lang="en-US" sz="1100" b="1" dirty="0"/>
              <a:t>Type:</a:t>
            </a:r>
            <a:r>
              <a:rPr lang="en-US" sz="1100" dirty="0"/>
              <a:t> Residential Burglary </a:t>
            </a:r>
            <a:br>
              <a:rPr lang="en-US" sz="1100" dirty="0"/>
            </a:br>
            <a:r>
              <a:rPr lang="en-US" sz="1100" b="1" dirty="0"/>
              <a:t>Summary:</a:t>
            </a:r>
            <a:br>
              <a:rPr lang="en-US" sz="1100" dirty="0"/>
            </a:br>
            <a:r>
              <a:rPr lang="en-US" sz="1100" dirty="0"/>
              <a:t>Victim reported apartment was burglarized while napping between 1100–1300 hrs. Entry was made through an unlocked door. Items stolen included $70 cash, credit cards, and food stamps. Victim, who is hard of hearing, did not hear entry. Scene was disturbed before officer arrival.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D57255-15D6-6F16-E1D6-6CEA7018BD9D}"/>
              </a:ext>
            </a:extLst>
          </p:cNvPr>
          <p:cNvSpPr txBox="1"/>
          <p:nvPr/>
        </p:nvSpPr>
        <p:spPr>
          <a:xfrm>
            <a:off x="6519582" y="1382458"/>
            <a:ext cx="3807332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Date:</a:t>
            </a:r>
            <a:r>
              <a:rPr lang="en-US" sz="1100" dirty="0"/>
              <a:t> 06/26/2025</a:t>
            </a:r>
            <a:br>
              <a:rPr lang="en-US" sz="1100" dirty="0"/>
            </a:br>
            <a:r>
              <a:rPr lang="en-US" sz="1100" b="1" dirty="0"/>
              <a:t>Location:</a:t>
            </a:r>
            <a:r>
              <a:rPr lang="en-US" sz="1100" dirty="0"/>
              <a:t> Police Headquarters</a:t>
            </a:r>
            <a:br>
              <a:rPr lang="en-US" sz="1100" dirty="0"/>
            </a:br>
            <a:r>
              <a:rPr lang="en-US" sz="1100" b="1" dirty="0"/>
              <a:t>Type:</a:t>
            </a:r>
            <a:r>
              <a:rPr lang="en-US" sz="1100" dirty="0"/>
              <a:t> Residential Burglary </a:t>
            </a:r>
            <a:br>
              <a:rPr lang="en-US" sz="1100" dirty="0"/>
            </a:br>
            <a:r>
              <a:rPr lang="en-US" sz="1100" b="1" dirty="0"/>
              <a:t>Summary:</a:t>
            </a:r>
            <a:br>
              <a:rPr lang="en-US" sz="1100" dirty="0"/>
            </a:br>
            <a:r>
              <a:rPr lang="en-US" sz="1100" dirty="0"/>
              <a:t>Victim Santos De La Cruz reported the theft of a floor safe containing $2,000 cash, jewelry (valued at $900), and the safe itself ($200) for a total estimated loss of $3,100. Last seen on 06/23/2025; discovered missing on 06/26/2025 at 1900 hrs. No signs of forced entry.</a:t>
            </a:r>
          </a:p>
        </p:txBody>
      </p:sp>
    </p:spTree>
    <p:extLst>
      <p:ext uri="{BB962C8B-B14F-4D97-AF65-F5344CB8AC3E}">
        <p14:creationId xmlns:p14="http://schemas.microsoft.com/office/powerpoint/2010/main" val="13211340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F81E4-75CD-AC09-2A44-10658AB29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3FA5FFF-E66D-8F7A-AF6C-73869B5AAC16}"/>
              </a:ext>
            </a:extLst>
          </p:cNvPr>
          <p:cNvGrpSpPr/>
          <p:nvPr/>
        </p:nvGrpSpPr>
        <p:grpSpPr>
          <a:xfrm>
            <a:off x="217714" y="145501"/>
            <a:ext cx="10421257" cy="719195"/>
            <a:chOff x="73958" y="958892"/>
            <a:chExt cx="9070041" cy="276999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ECF7DBB-BF5D-6FF1-9096-607FF443D824}"/>
                </a:ext>
              </a:extLst>
            </p:cNvPr>
            <p:cNvSpPr txBox="1"/>
            <p:nvPr/>
          </p:nvSpPr>
          <p:spPr>
            <a:xfrm>
              <a:off x="73958" y="958892"/>
              <a:ext cx="9070041" cy="276999"/>
            </a:xfrm>
            <a:prstGeom prst="rect">
              <a:avLst/>
            </a:prstGeom>
            <a:gradFill>
              <a:gsLst>
                <a:gs pos="96000">
                  <a:srgbClr val="0C233D"/>
                </a:gs>
                <a:gs pos="69500">
                  <a:srgbClr val="455666"/>
                </a:gs>
                <a:gs pos="35000">
                  <a:srgbClr val="7D888F"/>
                </a:gs>
                <a:gs pos="8000">
                  <a:srgbClr val="DBDEE0"/>
                </a:gs>
              </a:gsLst>
              <a:lin ang="10800000" scaled="0"/>
            </a:gradFill>
            <a:effectLst>
              <a:outerShdw blurRad="38100" dist="50800" dir="5400000" algn="ctr" rotWithShape="0">
                <a:schemeClr val="tx1">
                  <a:lumMod val="50000"/>
                  <a:lumOff val="50000"/>
                </a:schemeClr>
              </a:outerShdw>
            </a:effectLst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2488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4976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7464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9953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12441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34929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7417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9905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342831">
                <a:defRPr/>
              </a:pPr>
              <a:endParaRPr lang="en-US" sz="1200" b="1" kern="0">
                <a:ln>
                  <a:solidFill>
                    <a:srgbClr val="4472C4">
                      <a:lumMod val="75000"/>
                    </a:srgbClr>
                  </a:solidFill>
                </a:ln>
                <a:solidFill>
                  <a:srgbClr val="FFC000">
                    <a:lumMod val="7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ED90F4E-84FB-1F83-A8A5-BA2BD11C4FBF}"/>
                </a:ext>
              </a:extLst>
            </p:cNvPr>
            <p:cNvSpPr txBox="1"/>
            <p:nvPr/>
          </p:nvSpPr>
          <p:spPr>
            <a:xfrm>
              <a:off x="73959" y="998133"/>
              <a:ext cx="3207404" cy="192623"/>
            </a:xfrm>
            <a:prstGeom prst="rect">
              <a:avLst/>
            </a:prstGeom>
            <a:noFill/>
          </p:spPr>
          <p:txBody>
            <a:bodyPr wrap="square" lIns="68566" tIns="34283" rIns="68566" bIns="34283" rtlCol="0" anchor="t">
              <a:spAutoFit/>
            </a:bodyPr>
            <a:lstStyle>
              <a:defPPr>
                <a:defRPr lang="en-US"/>
              </a:defPPr>
              <a:lvl1pPr marL="0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2488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4976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7464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9953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12441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34929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7417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9905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b="1" dirty="0">
                  <a:ln w="3175">
                    <a:solidFill>
                      <a:srgbClr val="FFB200"/>
                    </a:solidFill>
                  </a:ln>
                  <a:solidFill>
                    <a:schemeClr val="bg1"/>
                  </a:solidFill>
                  <a:latin typeface="Arial Nova Cond"/>
                </a:rPr>
                <a:t>Strategic Crime Reduction Analysis</a:t>
              </a:r>
            </a:p>
            <a:p>
              <a:r>
                <a:rPr lang="en-US" sz="1400" b="1" dirty="0">
                  <a:ln w="3175">
                    <a:solidFill>
                      <a:srgbClr val="FFB200"/>
                    </a:solidFill>
                  </a:ln>
                  <a:solidFill>
                    <a:schemeClr val="bg1"/>
                  </a:solidFill>
                  <a:latin typeface="Arial Nova Cond"/>
                </a:rPr>
                <a:t>Prepared by PO R. Carucci</a:t>
              </a:r>
            </a:p>
          </p:txBody>
        </p:sp>
      </p:grpSp>
      <p:pic>
        <p:nvPicPr>
          <p:cNvPr id="20" name="Picture 19" descr="A blue and yellow police badge&#10;&#10;AI-generated content may be incorrect.">
            <a:extLst>
              <a:ext uri="{FF2B5EF4-FFF2-40B4-BE49-F238E27FC236}">
                <a16:creationId xmlns:a16="http://schemas.microsoft.com/office/drawing/2014/main" id="{DD9ECF98-05BD-F80C-29C9-14EF3096960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56371" y="185124"/>
            <a:ext cx="521734" cy="63994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4D3276D-77A6-AC5C-A33D-E3F507E88BBB}"/>
              </a:ext>
            </a:extLst>
          </p:cNvPr>
          <p:cNvCxnSpPr>
            <a:cxnSpLocks/>
          </p:cNvCxnSpPr>
          <p:nvPr/>
        </p:nvCxnSpPr>
        <p:spPr>
          <a:xfrm flipH="1" flipV="1">
            <a:off x="2999822" y="1088635"/>
            <a:ext cx="17015" cy="24049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6EFE618-5BC8-6F99-AE44-08BE33A86D7A}"/>
              </a:ext>
            </a:extLst>
          </p:cNvPr>
          <p:cNvCxnSpPr>
            <a:cxnSpLocks/>
          </p:cNvCxnSpPr>
          <p:nvPr/>
        </p:nvCxnSpPr>
        <p:spPr>
          <a:xfrm flipH="1">
            <a:off x="326571" y="3491641"/>
            <a:ext cx="1000034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9A003A4-A2DC-0BE2-8E39-165A88B789AC}"/>
              </a:ext>
            </a:extLst>
          </p:cNvPr>
          <p:cNvSpPr txBox="1"/>
          <p:nvPr/>
        </p:nvSpPr>
        <p:spPr>
          <a:xfrm>
            <a:off x="2911170" y="964212"/>
            <a:ext cx="7455998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2488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4976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7464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9953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12441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34929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417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9905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dirty="0">
                <a:latin typeface="Arial Nova Cond"/>
              </a:rPr>
              <a:t>Pattern Offenders/Suspects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BC4AFE-42BA-1840-AB00-F2F5B216B613}"/>
              </a:ext>
            </a:extLst>
          </p:cNvPr>
          <p:cNvSpPr txBox="1"/>
          <p:nvPr/>
        </p:nvSpPr>
        <p:spPr>
          <a:xfrm>
            <a:off x="217714" y="974096"/>
            <a:ext cx="2608258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2000" b="1" dirty="0">
                <a:latin typeface="Arial Nova Cond"/>
              </a:rPr>
              <a:t>Robbery</a:t>
            </a:r>
            <a:endParaRPr lang="en-US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7C14754-C547-8270-4737-F8E30A1EEE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165" y="3958684"/>
            <a:ext cx="5322633" cy="361827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027E49C-3178-B746-84BB-9414DD7CF5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4593" y="4369440"/>
            <a:ext cx="4663512" cy="2796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1049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F9958-EF2A-9FEB-8FFA-82F78BE52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34CEF42-25D6-3202-7629-87AC30A50C5F}"/>
              </a:ext>
            </a:extLst>
          </p:cNvPr>
          <p:cNvGrpSpPr/>
          <p:nvPr/>
        </p:nvGrpSpPr>
        <p:grpSpPr>
          <a:xfrm>
            <a:off x="217714" y="145501"/>
            <a:ext cx="10421257" cy="719195"/>
            <a:chOff x="73958" y="958892"/>
            <a:chExt cx="9070041" cy="276999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3D42E01-8E61-6A4F-0A0F-BA17A6D56D09}"/>
                </a:ext>
              </a:extLst>
            </p:cNvPr>
            <p:cNvSpPr txBox="1"/>
            <p:nvPr/>
          </p:nvSpPr>
          <p:spPr>
            <a:xfrm>
              <a:off x="73958" y="958892"/>
              <a:ext cx="9070041" cy="276999"/>
            </a:xfrm>
            <a:prstGeom prst="rect">
              <a:avLst/>
            </a:prstGeom>
            <a:gradFill>
              <a:gsLst>
                <a:gs pos="96000">
                  <a:srgbClr val="0C233D"/>
                </a:gs>
                <a:gs pos="69500">
                  <a:srgbClr val="455666"/>
                </a:gs>
                <a:gs pos="35000">
                  <a:srgbClr val="7D888F"/>
                </a:gs>
                <a:gs pos="8000">
                  <a:srgbClr val="DBDEE0"/>
                </a:gs>
              </a:gsLst>
              <a:lin ang="10800000" scaled="0"/>
            </a:gradFill>
            <a:effectLst>
              <a:outerShdw blurRad="38100" dist="50800" dir="5400000" algn="ctr" rotWithShape="0">
                <a:schemeClr val="tx1">
                  <a:lumMod val="50000"/>
                  <a:lumOff val="50000"/>
                </a:schemeClr>
              </a:outerShdw>
            </a:effectLst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2488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4976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7464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9953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12441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34929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7417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9905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342831">
                <a:defRPr/>
              </a:pPr>
              <a:endParaRPr lang="en-US" sz="1200" b="1" kern="0">
                <a:ln>
                  <a:solidFill>
                    <a:srgbClr val="4472C4">
                      <a:lumMod val="75000"/>
                    </a:srgbClr>
                  </a:solidFill>
                </a:ln>
                <a:solidFill>
                  <a:srgbClr val="FFC000">
                    <a:lumMod val="7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AD85A32-91DF-C223-8990-5A35E455CF7E}"/>
                </a:ext>
              </a:extLst>
            </p:cNvPr>
            <p:cNvSpPr txBox="1"/>
            <p:nvPr/>
          </p:nvSpPr>
          <p:spPr>
            <a:xfrm>
              <a:off x="73959" y="998133"/>
              <a:ext cx="3207404" cy="192623"/>
            </a:xfrm>
            <a:prstGeom prst="rect">
              <a:avLst/>
            </a:prstGeom>
            <a:noFill/>
          </p:spPr>
          <p:txBody>
            <a:bodyPr wrap="square" lIns="68566" tIns="34283" rIns="68566" bIns="34283" rtlCol="0" anchor="t">
              <a:spAutoFit/>
            </a:bodyPr>
            <a:lstStyle>
              <a:defPPr>
                <a:defRPr lang="en-US"/>
              </a:defPPr>
              <a:lvl1pPr marL="0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2488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4976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7464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9953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12441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34929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7417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9905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b="1" dirty="0">
                  <a:ln w="3175">
                    <a:solidFill>
                      <a:srgbClr val="FFB200"/>
                    </a:solidFill>
                  </a:ln>
                  <a:solidFill>
                    <a:schemeClr val="bg1"/>
                  </a:solidFill>
                  <a:latin typeface="Arial Nova Cond"/>
                </a:rPr>
                <a:t>Strategic Crime Reduction Analysis</a:t>
              </a:r>
            </a:p>
            <a:p>
              <a:r>
                <a:rPr lang="en-US" sz="1400" b="1" dirty="0">
                  <a:ln w="3175">
                    <a:solidFill>
                      <a:srgbClr val="FFB200"/>
                    </a:solidFill>
                  </a:ln>
                  <a:solidFill>
                    <a:schemeClr val="bg1"/>
                  </a:solidFill>
                  <a:latin typeface="Arial Nova Cond"/>
                </a:rPr>
                <a:t>Prepared by PO R. Carucci</a:t>
              </a:r>
            </a:p>
          </p:txBody>
        </p:sp>
      </p:grpSp>
      <p:pic>
        <p:nvPicPr>
          <p:cNvPr id="20" name="Picture 19" descr="A blue and yellow police badge&#10;&#10;AI-generated content may be incorrect.">
            <a:extLst>
              <a:ext uri="{FF2B5EF4-FFF2-40B4-BE49-F238E27FC236}">
                <a16:creationId xmlns:a16="http://schemas.microsoft.com/office/drawing/2014/main" id="{4A381292-0776-ADE6-2CC0-6BF0D1DFFE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56371" y="185124"/>
            <a:ext cx="521734" cy="63994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85F85F9-9678-5D77-997A-572BC4E21EDF}"/>
              </a:ext>
            </a:extLst>
          </p:cNvPr>
          <p:cNvCxnSpPr>
            <a:cxnSpLocks/>
          </p:cNvCxnSpPr>
          <p:nvPr/>
        </p:nvCxnSpPr>
        <p:spPr>
          <a:xfrm flipH="1" flipV="1">
            <a:off x="2999822" y="1088635"/>
            <a:ext cx="17015" cy="24049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C9B63A3-6D39-1A53-F9D7-8815843BE32B}"/>
              </a:ext>
            </a:extLst>
          </p:cNvPr>
          <p:cNvCxnSpPr>
            <a:cxnSpLocks/>
          </p:cNvCxnSpPr>
          <p:nvPr/>
        </p:nvCxnSpPr>
        <p:spPr>
          <a:xfrm flipH="1">
            <a:off x="326571" y="3491641"/>
            <a:ext cx="1000034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A2118EC8-0C70-7569-24F8-FC6703AE6628}"/>
              </a:ext>
            </a:extLst>
          </p:cNvPr>
          <p:cNvSpPr txBox="1"/>
          <p:nvPr/>
        </p:nvSpPr>
        <p:spPr>
          <a:xfrm>
            <a:off x="2911170" y="964212"/>
            <a:ext cx="7455998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2488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4976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7464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9953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12441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34929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417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9905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dirty="0">
                <a:latin typeface="Arial Nova Cond"/>
              </a:rPr>
              <a:t>Pattern Offenders/Suspects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7C2341-163F-0000-219D-6314C8F4B3FC}"/>
              </a:ext>
            </a:extLst>
          </p:cNvPr>
          <p:cNvSpPr txBox="1"/>
          <p:nvPr/>
        </p:nvSpPr>
        <p:spPr>
          <a:xfrm>
            <a:off x="217714" y="974096"/>
            <a:ext cx="2608258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2000" b="1" dirty="0">
                <a:latin typeface="Arial Nova Cond"/>
              </a:rPr>
              <a:t>Sexual Offenses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FDC0E49-E914-A819-E46E-10213FC78F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7928" y="3823067"/>
            <a:ext cx="5683788" cy="37667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960A59A-9329-D770-CCDE-2A1B61F747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1378" y="4129844"/>
            <a:ext cx="4467849" cy="3153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5637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2010</TotalTime>
  <Words>402</Words>
  <Application>Microsoft Office PowerPoint</Application>
  <PresentationFormat>Custom</PresentationFormat>
  <Paragraphs>24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Arial Nova Cond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C07W26_2025_07_01_7Day</dc:title>
  <dc:creator>Robert Carucci</dc:creator>
  <cp:lastModifiedBy>Robert Carucci</cp:lastModifiedBy>
  <cp:revision>94</cp:revision>
  <cp:lastPrinted>2024-03-13T21:12:29Z</cp:lastPrinted>
  <dcterms:created xsi:type="dcterms:W3CDTF">2024-03-08T16:09:34Z</dcterms:created>
  <dcterms:modified xsi:type="dcterms:W3CDTF">2025-07-01T18:37:05Z</dcterms:modified>
</cp:coreProperties>
</file>